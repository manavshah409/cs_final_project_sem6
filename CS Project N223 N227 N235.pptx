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rchivo Black" panose="020B0604020202020204" charset="0"/>
      <p:regular r:id="rId17"/>
    </p:embeddedFont>
    <p:embeddedFont>
      <p:font typeface="Atkinson Hyperlegible" panose="020B0604020202020204" charset="0"/>
      <p:regular r:id="rId18"/>
    </p:embeddedFont>
    <p:embeddedFont>
      <p:font typeface="Atkinson Hyperlegible Bold" panose="020B0604020202020204" charset="0"/>
      <p:regular r:id="rId19"/>
    </p:embeddedFont>
    <p:embeddedFont>
      <p:font typeface="Atkinson Hyperlegible Bold Italics" panose="020B0604020202020204" charset="0"/>
      <p:regular r:id="rId20"/>
    </p:embeddedFont>
    <p:embeddedFont>
      <p:font typeface="Garet" panose="020B0604020202020204" charset="0"/>
      <p:regular r:id="rId21"/>
    </p:embeddedFont>
    <p:embeddedFont>
      <p:font typeface="Garet Bold" panose="020B0604020202020204" charset="0"/>
      <p:regular r:id="rId22"/>
    </p:embeddedFont>
    <p:embeddedFont>
      <p:font typeface="Garet Bold Italics" panose="020B0604020202020204" charset="0"/>
      <p:regular r:id="rId23"/>
    </p:embeddedFont>
    <p:embeddedFont>
      <p:font typeface="Times New Roman Bold" panose="02020803070505020304" pitchFamily="18" charset="0"/>
      <p:regular r:id="rId24"/>
      <p:bold r:id="rId25"/>
    </p:embeddedFont>
    <p:embeddedFont>
      <p:font typeface="TT Rounds Condensed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889075" y="6840766"/>
            <a:ext cx="4769525" cy="1934206"/>
          </a:xfrm>
          <a:prstGeom prst="rect">
            <a:avLst/>
          </a:prstGeom>
        </p:spPr>
        <p:txBody>
          <a:bodyPr wrap="square" lIns="0" tIns="0" rIns="0" bIns="0" rtlCol="0" anchor="t">
            <a:spAutoFit/>
          </a:bodyPr>
          <a:lstStyle/>
          <a:p>
            <a:pPr>
              <a:lnSpc>
                <a:spcPts val="3833"/>
              </a:lnSpc>
            </a:pPr>
            <a:r>
              <a:rPr lang="en-US" sz="2948" b="1" dirty="0">
                <a:solidFill>
                  <a:srgbClr val="2B2B2B"/>
                </a:solidFill>
                <a:latin typeface="Garet Bold"/>
                <a:ea typeface="Garet Bold"/>
                <a:cs typeface="Garet Bold"/>
                <a:sym typeface="Garet Bold"/>
              </a:rPr>
              <a:t>PRESENTED BY:</a:t>
            </a:r>
          </a:p>
          <a:p>
            <a:pPr marL="636585" lvl="1" indent="-318293">
              <a:lnSpc>
                <a:spcPts val="3833"/>
              </a:lnSpc>
              <a:buAutoNum type="arabicPeriod"/>
            </a:pPr>
            <a:r>
              <a:rPr lang="en-US" sz="2948" b="1" dirty="0">
                <a:solidFill>
                  <a:srgbClr val="2B2B2B"/>
                </a:solidFill>
                <a:latin typeface="Garet Bold"/>
                <a:ea typeface="Garet Bold"/>
                <a:cs typeface="Garet Bold"/>
                <a:sym typeface="Garet Bold"/>
              </a:rPr>
              <a:t>Manav Shah - N227</a:t>
            </a:r>
          </a:p>
          <a:p>
            <a:pPr marL="636585" lvl="1" indent="-318293">
              <a:lnSpc>
                <a:spcPts val="3833"/>
              </a:lnSpc>
              <a:buAutoNum type="arabicPeriod"/>
            </a:pPr>
            <a:r>
              <a:rPr lang="en-US" sz="2948" b="1" dirty="0">
                <a:solidFill>
                  <a:srgbClr val="2B2B2B"/>
                </a:solidFill>
                <a:latin typeface="Garet Bold"/>
                <a:ea typeface="Garet Bold"/>
                <a:cs typeface="Garet Bold"/>
                <a:sym typeface="Garet Bold"/>
              </a:rPr>
              <a:t>Manav Goyal - N223</a:t>
            </a:r>
          </a:p>
          <a:p>
            <a:pPr marL="636585" lvl="1" indent="-318293">
              <a:lnSpc>
                <a:spcPts val="3833"/>
              </a:lnSpc>
              <a:buAutoNum type="arabicPeriod"/>
            </a:pPr>
            <a:r>
              <a:rPr lang="en-US" sz="2948" b="1" dirty="0">
                <a:solidFill>
                  <a:srgbClr val="2B2B2B"/>
                </a:solidFill>
                <a:latin typeface="Garet Bold"/>
                <a:ea typeface="Garet Bold"/>
                <a:cs typeface="Garet Bold"/>
                <a:sym typeface="Garet Bold"/>
              </a:rPr>
              <a:t>Meet Shah - N235</a:t>
            </a:r>
          </a:p>
        </p:txBody>
      </p:sp>
      <p:sp>
        <p:nvSpPr>
          <p:cNvPr id="4" name="TextBox 4"/>
          <p:cNvSpPr txBox="1"/>
          <p:nvPr/>
        </p:nvSpPr>
        <p:spPr>
          <a:xfrm>
            <a:off x="2126447" y="4552950"/>
            <a:ext cx="14035106" cy="590550"/>
          </a:xfrm>
          <a:prstGeom prst="rect">
            <a:avLst/>
          </a:prstGeom>
        </p:spPr>
        <p:txBody>
          <a:bodyPr lIns="0" tIns="0" rIns="0" bIns="0" rtlCol="0" anchor="t">
            <a:spAutoFit/>
          </a:bodyPr>
          <a:lstStyle/>
          <a:p>
            <a:pPr algn="ctr">
              <a:lnSpc>
                <a:spcPts val="4688"/>
              </a:lnSpc>
            </a:pPr>
            <a:r>
              <a:rPr lang="en-US" sz="3906">
                <a:solidFill>
                  <a:srgbClr val="FF0000"/>
                </a:solidFill>
                <a:latin typeface="Archivo Black"/>
                <a:ea typeface="Archivo Black"/>
                <a:cs typeface="Archivo Black"/>
                <a:sym typeface="Archivo Black"/>
              </a:rPr>
              <a:t>5G Network DDoS Detection &amp; Defense System</a:t>
            </a:r>
          </a:p>
        </p:txBody>
      </p:sp>
      <p:sp>
        <p:nvSpPr>
          <p:cNvPr id="5" name="TextBox 5"/>
          <p:cNvSpPr txBox="1"/>
          <p:nvPr/>
        </p:nvSpPr>
        <p:spPr>
          <a:xfrm>
            <a:off x="4188559" y="5291557"/>
            <a:ext cx="9910882" cy="476904"/>
          </a:xfrm>
          <a:prstGeom prst="rect">
            <a:avLst/>
          </a:prstGeom>
        </p:spPr>
        <p:txBody>
          <a:bodyPr lIns="0" tIns="0" rIns="0" bIns="0" rtlCol="0" anchor="t">
            <a:spAutoFit/>
          </a:bodyPr>
          <a:lstStyle/>
          <a:p>
            <a:pPr algn="ctr">
              <a:lnSpc>
                <a:spcPts val="3833"/>
              </a:lnSpc>
              <a:spcBef>
                <a:spcPct val="0"/>
              </a:spcBef>
            </a:pPr>
            <a:r>
              <a:rPr lang="en-US" sz="2948" b="1" dirty="0">
                <a:solidFill>
                  <a:srgbClr val="000000"/>
                </a:solidFill>
                <a:latin typeface="Garet Bold"/>
                <a:ea typeface="Garet Bold"/>
                <a:cs typeface="Garet Bold"/>
                <a:sym typeface="Garet Bold"/>
              </a:rPr>
              <a:t>A Cybersecurity Approach using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777973"/>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38100"/>
              <a:ext cx="24384000" cy="2382910"/>
            </a:xfrm>
            <a:prstGeom prst="rect">
              <a:avLst/>
            </a:prstGeom>
          </p:spPr>
          <p:txBody>
            <a:bodyPr lIns="0" tIns="0" rIns="0" bIns="0" rtlCol="0" anchor="ctr"/>
            <a:lstStyle/>
            <a:p>
              <a:pPr algn="ctr">
                <a:lnSpc>
                  <a:spcPts val="7128"/>
                </a:lnSpc>
              </a:pPr>
              <a:r>
                <a:rPr lang="en-US" sz="6600" b="1" spc="-40">
                  <a:solidFill>
                    <a:srgbClr val="FF0000"/>
                  </a:solidFill>
                  <a:latin typeface="Times New Roman Bold"/>
                  <a:ea typeface="Times New Roman Bold"/>
                  <a:cs typeface="Times New Roman Bold"/>
                  <a:sym typeface="Times New Roman Bold"/>
                </a:rPr>
                <a:t>Introduction</a:t>
              </a:r>
            </a:p>
          </p:txBody>
        </p:sp>
      </p:grpSp>
      <p:sp>
        <p:nvSpPr>
          <p:cNvPr id="6" name="TextBox 6"/>
          <p:cNvSpPr txBox="1"/>
          <p:nvPr/>
        </p:nvSpPr>
        <p:spPr>
          <a:xfrm>
            <a:off x="1028700" y="2631831"/>
            <a:ext cx="7417525" cy="6714745"/>
          </a:xfrm>
          <a:prstGeom prst="rect">
            <a:avLst/>
          </a:prstGeom>
        </p:spPr>
        <p:txBody>
          <a:bodyPr lIns="0" tIns="0" rIns="0" bIns="0" rtlCol="0" anchor="t">
            <a:spAutoFit/>
          </a:bodyPr>
          <a:lstStyle/>
          <a:p>
            <a:pPr algn="l">
              <a:lnSpc>
                <a:spcPts val="3348"/>
              </a:lnSpc>
            </a:pPr>
            <a:r>
              <a:rPr lang="en-US" sz="3100" spc="-18">
                <a:solidFill>
                  <a:srgbClr val="000000"/>
                </a:solidFill>
                <a:latin typeface="Garet"/>
                <a:ea typeface="Garet"/>
                <a:cs typeface="Garet"/>
                <a:sym typeface="Garet"/>
              </a:rPr>
              <a:t>🌐 Why This Matters in Cybersecurity</a:t>
            </a:r>
          </a:p>
          <a:p>
            <a:pPr marL="669309" lvl="1" indent="-334654" algn="l">
              <a:lnSpc>
                <a:spcPts val="3348"/>
              </a:lnSpc>
              <a:buFont typeface="Arial"/>
              <a:buChar char="•"/>
            </a:pPr>
            <a:r>
              <a:rPr lang="en-US" sz="3100" spc="-18">
                <a:solidFill>
                  <a:srgbClr val="000000"/>
                </a:solidFill>
                <a:latin typeface="Garet"/>
                <a:ea typeface="Garet"/>
                <a:cs typeface="Garet"/>
                <a:sym typeface="Garet"/>
              </a:rPr>
              <a:t>The evolution of 5G networks has enabled:</a:t>
            </a:r>
          </a:p>
          <a:p>
            <a:pPr marL="1338618" lvl="2" indent="-446206" algn="l">
              <a:lnSpc>
                <a:spcPts val="3348"/>
              </a:lnSpc>
              <a:buFont typeface="Arial"/>
              <a:buChar char="⚬"/>
            </a:pPr>
            <a:r>
              <a:rPr lang="en-US" sz="3100" spc="-18">
                <a:solidFill>
                  <a:srgbClr val="000000"/>
                </a:solidFill>
                <a:latin typeface="Garet"/>
                <a:ea typeface="Garet"/>
                <a:cs typeface="Garet"/>
                <a:sym typeface="Garet"/>
              </a:rPr>
              <a:t>Massive device connectivity (IoT, smart systems)</a:t>
            </a:r>
          </a:p>
          <a:p>
            <a:pPr marL="1338618" lvl="2" indent="-446206" algn="l">
              <a:lnSpc>
                <a:spcPts val="3348"/>
              </a:lnSpc>
              <a:buFont typeface="Arial"/>
              <a:buChar char="⚬"/>
            </a:pPr>
            <a:r>
              <a:rPr lang="en-US" sz="3100" spc="-18">
                <a:solidFill>
                  <a:srgbClr val="000000"/>
                </a:solidFill>
                <a:latin typeface="Garet"/>
                <a:ea typeface="Garet"/>
                <a:cs typeface="Garet"/>
                <a:sym typeface="Garet"/>
              </a:rPr>
              <a:t>Ultra-low latency communication</a:t>
            </a:r>
          </a:p>
          <a:p>
            <a:pPr marL="1338618" lvl="2" indent="-446206" algn="l">
              <a:lnSpc>
                <a:spcPts val="3348"/>
              </a:lnSpc>
              <a:buFont typeface="Arial"/>
              <a:buChar char="⚬"/>
            </a:pPr>
            <a:r>
              <a:rPr lang="en-US" sz="3100" spc="-18">
                <a:solidFill>
                  <a:srgbClr val="000000"/>
                </a:solidFill>
                <a:latin typeface="Garet"/>
                <a:ea typeface="Garet"/>
                <a:cs typeface="Garet"/>
                <a:sym typeface="Garet"/>
              </a:rPr>
              <a:t>High-speed data transmission</a:t>
            </a:r>
          </a:p>
          <a:p>
            <a:pPr marL="669309" lvl="1" indent="-334654" algn="l">
              <a:lnSpc>
                <a:spcPts val="3348"/>
              </a:lnSpc>
              <a:buFont typeface="Arial"/>
              <a:buChar char="•"/>
            </a:pPr>
            <a:r>
              <a:rPr lang="en-US" sz="3100" spc="-18">
                <a:solidFill>
                  <a:srgbClr val="000000"/>
                </a:solidFill>
                <a:latin typeface="Garet"/>
                <a:ea typeface="Garet"/>
                <a:cs typeface="Garet"/>
                <a:sym typeface="Garet"/>
              </a:rPr>
              <a:t>However, this advancement introduces critical security challenges:</a:t>
            </a:r>
          </a:p>
          <a:p>
            <a:pPr marL="1338618" lvl="2" indent="-446206" algn="l">
              <a:lnSpc>
                <a:spcPts val="3348"/>
              </a:lnSpc>
              <a:buFont typeface="Arial"/>
              <a:buChar char="⚬"/>
            </a:pPr>
            <a:r>
              <a:rPr lang="en-US" sz="3100" spc="-18">
                <a:solidFill>
                  <a:srgbClr val="000000"/>
                </a:solidFill>
                <a:latin typeface="Garet"/>
                <a:ea typeface="Garet"/>
                <a:cs typeface="Garet"/>
                <a:sym typeface="Garet"/>
              </a:rPr>
              <a:t>Larger attack surface</a:t>
            </a:r>
          </a:p>
          <a:p>
            <a:pPr marL="1338618" lvl="2" indent="-446206" algn="l">
              <a:lnSpc>
                <a:spcPts val="3348"/>
              </a:lnSpc>
              <a:buFont typeface="Arial"/>
              <a:buChar char="⚬"/>
            </a:pPr>
            <a:r>
              <a:rPr lang="en-US" sz="3100" spc="-18">
                <a:solidFill>
                  <a:srgbClr val="000000"/>
                </a:solidFill>
                <a:latin typeface="Garet"/>
                <a:ea typeface="Garet"/>
                <a:cs typeface="Garet"/>
                <a:sym typeface="Garet"/>
              </a:rPr>
              <a:t>Increased network exposure</a:t>
            </a:r>
          </a:p>
          <a:p>
            <a:pPr marL="1338618" lvl="2" indent="-446206" algn="l">
              <a:lnSpc>
                <a:spcPts val="3348"/>
              </a:lnSpc>
              <a:buFont typeface="Arial"/>
              <a:buChar char="⚬"/>
            </a:pPr>
            <a:r>
              <a:rPr lang="en-US" sz="3100" spc="-18">
                <a:solidFill>
                  <a:srgbClr val="000000"/>
                </a:solidFill>
                <a:latin typeface="Garet"/>
                <a:ea typeface="Garet"/>
                <a:cs typeface="Garet"/>
                <a:sym typeface="Garet"/>
              </a:rPr>
              <a:t>Difficulty in monitoring high-volume traffic</a:t>
            </a:r>
          </a:p>
          <a:p>
            <a:pPr algn="l">
              <a:lnSpc>
                <a:spcPts val="3348"/>
              </a:lnSpc>
            </a:pPr>
            <a:endParaRPr lang="en-US" sz="3100" spc="-18">
              <a:solidFill>
                <a:srgbClr val="000000"/>
              </a:solidFill>
              <a:latin typeface="Garet"/>
              <a:ea typeface="Garet"/>
              <a:cs typeface="Garet"/>
              <a:sym typeface="Garet"/>
            </a:endParaRPr>
          </a:p>
        </p:txBody>
      </p:sp>
      <p:sp>
        <p:nvSpPr>
          <p:cNvPr id="7" name="TextBox 7"/>
          <p:cNvSpPr txBox="1"/>
          <p:nvPr/>
        </p:nvSpPr>
        <p:spPr>
          <a:xfrm>
            <a:off x="9437102" y="2631831"/>
            <a:ext cx="7977783" cy="4200145"/>
          </a:xfrm>
          <a:prstGeom prst="rect">
            <a:avLst/>
          </a:prstGeom>
        </p:spPr>
        <p:txBody>
          <a:bodyPr lIns="0" tIns="0" rIns="0" bIns="0" rtlCol="0" anchor="t">
            <a:spAutoFit/>
          </a:bodyPr>
          <a:lstStyle/>
          <a:p>
            <a:pPr algn="l">
              <a:lnSpc>
                <a:spcPts val="3348"/>
              </a:lnSpc>
            </a:pPr>
            <a:r>
              <a:rPr lang="en-US" sz="3100" u="none" strike="noStrike" spc="-18">
                <a:solidFill>
                  <a:srgbClr val="000000"/>
                </a:solidFill>
                <a:latin typeface="Garet"/>
                <a:ea typeface="Garet"/>
                <a:cs typeface="Garet"/>
                <a:sym typeface="Garet"/>
              </a:rPr>
              <a:t>🚨 DDoS Attacks in 5G Networks</a:t>
            </a:r>
          </a:p>
          <a:p>
            <a:pPr marL="669309" lvl="1" indent="-334654" algn="l">
              <a:lnSpc>
                <a:spcPts val="3348"/>
              </a:lnSpc>
              <a:buFont typeface="Arial"/>
              <a:buChar char="•"/>
            </a:pPr>
            <a:r>
              <a:rPr lang="en-US" sz="3100" u="none" strike="noStrike" spc="-18">
                <a:solidFill>
                  <a:srgbClr val="000000"/>
                </a:solidFill>
                <a:latin typeface="Garet"/>
                <a:ea typeface="Garet"/>
                <a:cs typeface="Garet"/>
                <a:sym typeface="Garet"/>
              </a:rPr>
              <a:t>Attackers exploit high bandwidth to:</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Flood servers with massive traffic</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Exhaust network resources</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Disrupt critical services</a:t>
            </a:r>
          </a:p>
          <a:p>
            <a:pPr marL="669309" lvl="1" indent="-334654" algn="l">
              <a:lnSpc>
                <a:spcPts val="3348"/>
              </a:lnSpc>
              <a:buFont typeface="Arial"/>
              <a:buChar char="•"/>
            </a:pPr>
            <a:r>
              <a:rPr lang="en-US" sz="3100" u="none" strike="noStrike" spc="-18">
                <a:solidFill>
                  <a:srgbClr val="000000"/>
                </a:solidFill>
                <a:latin typeface="Garet"/>
                <a:ea typeface="Garet"/>
                <a:cs typeface="Garet"/>
                <a:sym typeface="Garet"/>
              </a:rPr>
              <a:t>Impact:</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Service downtime</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Financial loss</a:t>
            </a:r>
          </a:p>
          <a:p>
            <a:pPr marL="1338618" lvl="2" indent="-446206" algn="l">
              <a:lnSpc>
                <a:spcPts val="3348"/>
              </a:lnSpc>
              <a:buFont typeface="Arial"/>
              <a:buChar char="⚬"/>
            </a:pPr>
            <a:r>
              <a:rPr lang="en-US" sz="3100" u="none" strike="noStrike" spc="-18">
                <a:solidFill>
                  <a:srgbClr val="000000"/>
                </a:solidFill>
                <a:latin typeface="Garet"/>
                <a:ea typeface="Garet"/>
                <a:cs typeface="Garet"/>
                <a:sym typeface="Garet"/>
              </a:rPr>
              <a:t>Security breaches</a:t>
            </a:r>
          </a:p>
          <a:p>
            <a:pPr algn="l">
              <a:lnSpc>
                <a:spcPts val="3348"/>
              </a:lnSpc>
            </a:pPr>
            <a:endParaRPr lang="en-US" sz="3100" u="none" strike="noStrike" spc="-18">
              <a:solidFill>
                <a:srgbClr val="000000"/>
              </a:solidFill>
              <a:latin typeface="Garet"/>
              <a:ea typeface="Garet"/>
              <a:cs typeface="Garet"/>
              <a:sym typeface="Garet"/>
            </a:endParaRPr>
          </a:p>
        </p:txBody>
      </p:sp>
      <p:sp>
        <p:nvSpPr>
          <p:cNvPr id="8" name="AutoShape 8"/>
          <p:cNvSpPr/>
          <p:nvPr/>
        </p:nvSpPr>
        <p:spPr>
          <a:xfrm flipV="1">
            <a:off x="8941802" y="2593731"/>
            <a:ext cx="0" cy="6664569"/>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777975"/>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28575"/>
              <a:ext cx="24384000" cy="2392435"/>
            </a:xfrm>
            <a:prstGeom prst="rect">
              <a:avLst/>
            </a:prstGeom>
          </p:spPr>
          <p:txBody>
            <a:bodyPr lIns="0" tIns="0" rIns="0" bIns="0" rtlCol="0" anchor="ctr"/>
            <a:lstStyle/>
            <a:p>
              <a:pPr algn="ctr">
                <a:lnSpc>
                  <a:spcPts val="5184"/>
                </a:lnSpc>
              </a:pPr>
              <a:r>
                <a:rPr lang="en-US" sz="4800" b="1" spc="-29">
                  <a:solidFill>
                    <a:srgbClr val="FF0000"/>
                  </a:solidFill>
                  <a:latin typeface="Times New Roman Bold"/>
                  <a:ea typeface="Times New Roman Bold"/>
                  <a:cs typeface="Times New Roman Bold"/>
                  <a:sym typeface="Times New Roman Bold"/>
                </a:rPr>
                <a:t>Problem Statement</a:t>
              </a:r>
            </a:p>
          </p:txBody>
        </p:sp>
      </p:grpSp>
      <p:sp>
        <p:nvSpPr>
          <p:cNvPr id="6" name="TextBox 6"/>
          <p:cNvSpPr txBox="1"/>
          <p:nvPr/>
        </p:nvSpPr>
        <p:spPr>
          <a:xfrm>
            <a:off x="1234922" y="2306955"/>
            <a:ext cx="16330284" cy="4512945"/>
          </a:xfrm>
          <a:prstGeom prst="rect">
            <a:avLst/>
          </a:prstGeom>
        </p:spPr>
        <p:txBody>
          <a:bodyPr lIns="0" tIns="0" rIns="0" bIns="0" rtlCol="0" anchor="t">
            <a:spAutoFit/>
          </a:bodyPr>
          <a:lstStyle/>
          <a:p>
            <a:pPr algn="just">
              <a:lnSpc>
                <a:spcPts val="3240"/>
              </a:lnSpc>
              <a:spcBef>
                <a:spcPct val="0"/>
              </a:spcBef>
            </a:pPr>
            <a:r>
              <a:rPr lang="en-US" sz="3000" b="1" i="1" u="sng" strike="noStrike" spc="-18" dirty="0">
                <a:solidFill>
                  <a:srgbClr val="000000"/>
                </a:solidFill>
                <a:latin typeface="Garet Bold Italics"/>
                <a:ea typeface="Garet Bold Italics"/>
                <a:cs typeface="Garet Bold Italics"/>
                <a:sym typeface="Garet Bold Italics"/>
              </a:rPr>
              <a:t>Security Problem</a:t>
            </a:r>
          </a:p>
          <a:p>
            <a:pPr algn="just">
              <a:lnSpc>
                <a:spcPts val="3240"/>
              </a:lnSpc>
              <a:spcBef>
                <a:spcPct val="0"/>
              </a:spcBef>
            </a:pPr>
            <a:r>
              <a:rPr lang="en-US" sz="3000" strike="noStrike" spc="-18" dirty="0">
                <a:solidFill>
                  <a:srgbClr val="000000"/>
                </a:solidFill>
                <a:latin typeface="Garet"/>
                <a:ea typeface="Garet"/>
                <a:cs typeface="Garet"/>
                <a:sym typeface="Garet"/>
              </a:rPr>
              <a:t>The rapid expansion of 5G networks has significantly increased data speed and connectivity, but it has also introduced new cybersecurity challenges. Traditional security systems struggle to detect modern threats such as Distributed Denial of Service (DDoS) attacks, which exploit high-speed infrastructure to overwhelm systems with massive traffic.</a:t>
            </a:r>
          </a:p>
          <a:p>
            <a:pPr algn="just">
              <a:lnSpc>
                <a:spcPts val="3240"/>
              </a:lnSpc>
              <a:spcBef>
                <a:spcPct val="0"/>
              </a:spcBef>
            </a:pPr>
            <a:r>
              <a:rPr lang="en-US" sz="3000" strike="noStrike" spc="-18" dirty="0">
                <a:solidFill>
                  <a:srgbClr val="000000"/>
                </a:solidFill>
                <a:latin typeface="Garet"/>
                <a:ea typeface="Garet"/>
                <a:cs typeface="Garet"/>
                <a:sym typeface="Garet"/>
              </a:rPr>
              <a:t>Most existing Intrusion Detection Systems (IDS) rely on signature-based techniques, making them ineffective against unknown or evolving attacks.</a:t>
            </a:r>
          </a:p>
          <a:p>
            <a:pPr algn="just">
              <a:lnSpc>
                <a:spcPts val="3240"/>
              </a:lnSpc>
              <a:spcBef>
                <a:spcPct val="0"/>
              </a:spcBef>
            </a:pPr>
            <a:r>
              <a:rPr lang="en-US" sz="3000" strike="noStrike" spc="-18" dirty="0">
                <a:solidFill>
                  <a:srgbClr val="000000"/>
                </a:solidFill>
                <a:latin typeface="Garet"/>
                <a:ea typeface="Garet"/>
                <a:cs typeface="Garet"/>
                <a:sym typeface="Garet"/>
              </a:rPr>
              <a:t>Although machine learning solutions exist, many report unrealistically high accuracy (near 100%), often due to data leakage, where models unintentionally learn hidden or time-based patterns instead of real attack behavior.</a:t>
            </a:r>
          </a:p>
        </p:txBody>
      </p:sp>
      <p:sp>
        <p:nvSpPr>
          <p:cNvPr id="7" name="TextBox 7"/>
          <p:cNvSpPr txBox="1"/>
          <p:nvPr/>
        </p:nvSpPr>
        <p:spPr>
          <a:xfrm>
            <a:off x="1234922" y="7066896"/>
            <a:ext cx="11140203" cy="2420004"/>
          </a:xfrm>
          <a:prstGeom prst="rect">
            <a:avLst/>
          </a:prstGeom>
        </p:spPr>
        <p:txBody>
          <a:bodyPr lIns="0" tIns="0" rIns="0" bIns="0" rtlCol="0" anchor="t">
            <a:spAutoFit/>
          </a:bodyPr>
          <a:lstStyle/>
          <a:p>
            <a:pPr algn="just">
              <a:lnSpc>
                <a:spcPts val="3833"/>
              </a:lnSpc>
              <a:spcBef>
                <a:spcPct val="0"/>
              </a:spcBef>
            </a:pPr>
            <a:r>
              <a:rPr lang="en-US" sz="2948" b="1" i="1" u="sng" dirty="0">
                <a:solidFill>
                  <a:srgbClr val="000000"/>
                </a:solidFill>
                <a:latin typeface="Garet Bold Italics"/>
                <a:ea typeface="Garet Bold Italics"/>
                <a:cs typeface="Garet Bold Italics"/>
                <a:sym typeface="Garet Bold Italics"/>
              </a:rPr>
              <a:t>Core Problem</a:t>
            </a:r>
          </a:p>
          <a:p>
            <a:pPr algn="just">
              <a:lnSpc>
                <a:spcPts val="3833"/>
              </a:lnSpc>
              <a:spcBef>
                <a:spcPct val="0"/>
              </a:spcBef>
            </a:pPr>
            <a:r>
              <a:rPr lang="en-US" sz="2948" dirty="0">
                <a:solidFill>
                  <a:srgbClr val="000000"/>
                </a:solidFill>
                <a:latin typeface="Garet"/>
                <a:ea typeface="Garet"/>
                <a:cs typeface="Garet"/>
                <a:sym typeface="Garet"/>
              </a:rPr>
              <a:t>Develop a reliable and secure DDoS detection system that:</a:t>
            </a:r>
          </a:p>
          <a:p>
            <a:pPr marL="636585" lvl="1" indent="-318293" algn="l">
              <a:lnSpc>
                <a:spcPts val="3833"/>
              </a:lnSpc>
              <a:spcBef>
                <a:spcPct val="0"/>
              </a:spcBef>
              <a:buFont typeface="Arial"/>
              <a:buChar char="•"/>
            </a:pPr>
            <a:r>
              <a:rPr lang="en-US" sz="2948" dirty="0">
                <a:solidFill>
                  <a:srgbClr val="000000"/>
                </a:solidFill>
                <a:latin typeface="Garet"/>
                <a:ea typeface="Garet"/>
                <a:cs typeface="Garet"/>
                <a:sym typeface="Garet"/>
              </a:rPr>
              <a:t>Avoids misleading results caused by data leakage</a:t>
            </a:r>
          </a:p>
          <a:p>
            <a:pPr marL="636585" lvl="1" indent="-318293" algn="l">
              <a:lnSpc>
                <a:spcPts val="3833"/>
              </a:lnSpc>
              <a:spcBef>
                <a:spcPct val="0"/>
              </a:spcBef>
              <a:buFont typeface="Arial"/>
              <a:buChar char="•"/>
            </a:pPr>
            <a:r>
              <a:rPr lang="en-US" sz="2948" dirty="0">
                <a:solidFill>
                  <a:srgbClr val="000000"/>
                </a:solidFill>
                <a:latin typeface="Garet"/>
                <a:ea typeface="Garet"/>
                <a:cs typeface="Garet"/>
                <a:sym typeface="Garet"/>
              </a:rPr>
              <a:t>Accurately detects attacks in real-world scenarios</a:t>
            </a:r>
          </a:p>
          <a:p>
            <a:pPr marL="636585" lvl="1" indent="-318293" algn="l">
              <a:lnSpc>
                <a:spcPts val="3833"/>
              </a:lnSpc>
              <a:spcBef>
                <a:spcPct val="0"/>
              </a:spcBef>
              <a:buFont typeface="Arial"/>
              <a:buChar char="•"/>
            </a:pPr>
            <a:r>
              <a:rPr lang="en-US" sz="2948" dirty="0">
                <a:solidFill>
                  <a:srgbClr val="000000"/>
                </a:solidFill>
                <a:latin typeface="Garet"/>
                <a:ea typeface="Garet"/>
                <a:cs typeface="Garet"/>
                <a:sym typeface="Garet"/>
              </a:rPr>
              <a:t>Provides trustworthy performance for deployment</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777973"/>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38100"/>
              <a:ext cx="24384000" cy="2382910"/>
            </a:xfrm>
            <a:prstGeom prst="rect">
              <a:avLst/>
            </a:prstGeom>
          </p:spPr>
          <p:txBody>
            <a:bodyPr lIns="0" tIns="0" rIns="0" bIns="0" rtlCol="0" anchor="ctr"/>
            <a:lstStyle/>
            <a:p>
              <a:pPr algn="ctr">
                <a:lnSpc>
                  <a:spcPts val="7128"/>
                </a:lnSpc>
              </a:pPr>
              <a:r>
                <a:rPr lang="en-US" sz="6600" b="1" spc="-40">
                  <a:solidFill>
                    <a:srgbClr val="FF0000"/>
                  </a:solidFill>
                  <a:latin typeface="Times New Roman Bold"/>
                  <a:ea typeface="Times New Roman Bold"/>
                  <a:cs typeface="Times New Roman Bold"/>
                  <a:sym typeface="Times New Roman Bold"/>
                </a:rPr>
                <a:t>Objectives &amp; Goals</a:t>
              </a:r>
            </a:p>
          </p:txBody>
        </p:sp>
      </p:grpSp>
      <p:sp>
        <p:nvSpPr>
          <p:cNvPr id="6" name="TextBox 6"/>
          <p:cNvSpPr txBox="1"/>
          <p:nvPr/>
        </p:nvSpPr>
        <p:spPr>
          <a:xfrm>
            <a:off x="1649939" y="2530982"/>
            <a:ext cx="14988121" cy="5384293"/>
          </a:xfrm>
          <a:prstGeom prst="rect">
            <a:avLst/>
          </a:prstGeom>
        </p:spPr>
        <p:txBody>
          <a:bodyPr lIns="0" tIns="0" rIns="0" bIns="0" rtlCol="0" anchor="t">
            <a:spAutoFit/>
          </a:bodyPr>
          <a:lstStyle/>
          <a:p>
            <a:pPr algn="l">
              <a:lnSpc>
                <a:spcPts val="3564"/>
              </a:lnSpc>
            </a:pPr>
            <a:r>
              <a:rPr lang="en-US" sz="3300" b="1" spc="-19">
                <a:solidFill>
                  <a:srgbClr val="000000"/>
                </a:solidFill>
                <a:latin typeface="Atkinson Hyperlegible Bold"/>
                <a:ea typeface="Atkinson Hyperlegible Bold"/>
                <a:cs typeface="Atkinson Hyperlegible Bold"/>
                <a:sym typeface="Atkinson Hyperlegible Bold"/>
              </a:rPr>
              <a:t>Project Objectives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Develop an intelligent ML-based system for detecting DDoS attacks in 5G networks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Accurately classify traffic as benign or malicious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Eliminate data leakage to ensure realistic model learning</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Implement and compare multiple ML models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Apply cross-validation for reliable evaluation</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Build an interactive dashboard for monitoring and simulation</a:t>
            </a:r>
          </a:p>
          <a:p>
            <a:pPr algn="l">
              <a:lnSpc>
                <a:spcPts val="3564"/>
              </a:lnSpc>
            </a:pPr>
            <a:endParaRPr lang="en-US" sz="3300" spc="-19">
              <a:solidFill>
                <a:srgbClr val="000000"/>
              </a:solidFill>
              <a:latin typeface="Atkinson Hyperlegible"/>
              <a:ea typeface="Atkinson Hyperlegible"/>
              <a:cs typeface="Atkinson Hyperlegible"/>
              <a:sym typeface="Atkinson Hyperlegible"/>
            </a:endParaRPr>
          </a:p>
          <a:p>
            <a:pPr algn="l">
              <a:lnSpc>
                <a:spcPts val="3564"/>
              </a:lnSpc>
            </a:pPr>
            <a:r>
              <a:rPr lang="en-US" sz="3300" b="1" spc="-19">
                <a:solidFill>
                  <a:srgbClr val="000000"/>
                </a:solidFill>
                <a:latin typeface="Atkinson Hyperlegible Bold"/>
                <a:ea typeface="Atkinson Hyperlegible Bold"/>
                <a:cs typeface="Atkinson Hyperlegible Bold"/>
                <a:sym typeface="Atkinson Hyperlegible Bold"/>
              </a:rPr>
              <a:t>Final Goal</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Bridge the gap between machine learning theory and real-world cybersecurity applications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777973"/>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38100"/>
              <a:ext cx="24384000" cy="2382910"/>
            </a:xfrm>
            <a:prstGeom prst="rect">
              <a:avLst/>
            </a:prstGeom>
          </p:spPr>
          <p:txBody>
            <a:bodyPr lIns="0" tIns="0" rIns="0" bIns="0" rtlCol="0" anchor="ctr"/>
            <a:lstStyle/>
            <a:p>
              <a:pPr algn="ctr">
                <a:lnSpc>
                  <a:spcPts val="7128"/>
                </a:lnSpc>
              </a:pPr>
              <a:r>
                <a:rPr lang="en-US" sz="6600" b="1" spc="-40">
                  <a:solidFill>
                    <a:srgbClr val="FF0000"/>
                  </a:solidFill>
                  <a:latin typeface="Times New Roman Bold"/>
                  <a:ea typeface="Times New Roman Bold"/>
                  <a:cs typeface="Times New Roman Bold"/>
                  <a:sym typeface="Times New Roman Bold"/>
                </a:rPr>
                <a:t> System Architecture</a:t>
              </a:r>
            </a:p>
          </p:txBody>
        </p:sp>
      </p:grpSp>
      <p:sp>
        <p:nvSpPr>
          <p:cNvPr id="6" name="Freeform 6"/>
          <p:cNvSpPr/>
          <p:nvPr/>
        </p:nvSpPr>
        <p:spPr>
          <a:xfrm>
            <a:off x="10485974" y="2593731"/>
            <a:ext cx="6947798" cy="6765418"/>
          </a:xfrm>
          <a:custGeom>
            <a:avLst/>
            <a:gdLst/>
            <a:ahLst/>
            <a:cxnLst/>
            <a:rect l="l" t="t" r="r" b="b"/>
            <a:pathLst>
              <a:path w="6947798" h="6765418">
                <a:moveTo>
                  <a:pt x="0" y="0"/>
                </a:moveTo>
                <a:lnTo>
                  <a:pt x="6947798" y="0"/>
                </a:lnTo>
                <a:lnTo>
                  <a:pt x="6947798" y="6765418"/>
                </a:lnTo>
                <a:lnTo>
                  <a:pt x="0" y="6765418"/>
                </a:lnTo>
                <a:lnTo>
                  <a:pt x="0" y="0"/>
                </a:lnTo>
                <a:close/>
              </a:path>
            </a:pathLst>
          </a:custGeom>
          <a:blipFill>
            <a:blip r:embed="rId4"/>
            <a:stretch>
              <a:fillRect/>
            </a:stretch>
          </a:blipFill>
        </p:spPr>
      </p:sp>
      <p:sp>
        <p:nvSpPr>
          <p:cNvPr id="7" name="TextBox 7"/>
          <p:cNvSpPr txBox="1"/>
          <p:nvPr/>
        </p:nvSpPr>
        <p:spPr>
          <a:xfrm>
            <a:off x="1028700" y="2631831"/>
            <a:ext cx="7796055" cy="6727318"/>
          </a:xfrm>
          <a:prstGeom prst="rect">
            <a:avLst/>
          </a:prstGeom>
        </p:spPr>
        <p:txBody>
          <a:bodyPr lIns="0" tIns="0" rIns="0" bIns="0" rtlCol="0" anchor="t">
            <a:spAutoFit/>
          </a:bodyPr>
          <a:lstStyle/>
          <a:p>
            <a:pPr algn="l">
              <a:lnSpc>
                <a:spcPts val="3564"/>
              </a:lnSpc>
            </a:pPr>
            <a:r>
              <a:rPr lang="en-US" sz="3300" b="1" spc="-19">
                <a:solidFill>
                  <a:srgbClr val="000000"/>
                </a:solidFill>
                <a:latin typeface="Atkinson Hyperlegible Bold"/>
                <a:ea typeface="Atkinson Hyperlegible Bold"/>
                <a:cs typeface="Atkinson Hyperlegible Bold"/>
                <a:sym typeface="Atkinson Hyperlegible Bold"/>
              </a:rPr>
              <a:t>Cyber Defense Pipeline</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Data Collection</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Network flow data from 5G traffic</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Preprocessing</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Data cleaning, normalization</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Removal of leakage features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Feature Engineering &amp; Selection</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Extract meaningful traffic patterns</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ML Detection Engine</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Multiple models classify traffic</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Decision &amp; Response System</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Block / Rate-limit / Allow traffic</a:t>
            </a:r>
          </a:p>
          <a:p>
            <a:pPr marL="712488" lvl="1" indent="-356244"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Visualization Dashboard </a:t>
            </a:r>
          </a:p>
          <a:p>
            <a:pPr marL="1424976" lvl="2" indent="-474992" algn="l">
              <a:lnSpc>
                <a:spcPts val="3564"/>
              </a:lnSpc>
              <a:buFont typeface="Arial"/>
              <a:buChar char="⚬"/>
            </a:pPr>
            <a:r>
              <a:rPr lang="en-US" sz="3300" spc="-19">
                <a:solidFill>
                  <a:srgbClr val="000000"/>
                </a:solidFill>
                <a:latin typeface="Atkinson Hyperlegible"/>
                <a:ea typeface="Atkinson Hyperlegible"/>
                <a:cs typeface="Atkinson Hyperlegible"/>
                <a:sym typeface="Atkinson Hyperlegible"/>
              </a:rPr>
              <a:t>Real-time monitoring and insights</a:t>
            </a:r>
          </a:p>
          <a:p>
            <a:pPr algn="l">
              <a:lnSpc>
                <a:spcPts val="3564"/>
              </a:lnSpc>
            </a:pPr>
            <a:endParaRPr lang="en-US" sz="3300" spc="-19">
              <a:solidFill>
                <a:srgbClr val="000000"/>
              </a:solidFill>
              <a:latin typeface="Atkinson Hyperlegible"/>
              <a:ea typeface="Atkinson Hyperlegible"/>
              <a:cs typeface="Atkinson Hyperlegible"/>
              <a:sym typeface="Atkinson Hyperlegible"/>
            </a:endParaRPr>
          </a:p>
        </p:txBody>
      </p:sp>
      <p:sp>
        <p:nvSpPr>
          <p:cNvPr id="8" name="AutoShape 8"/>
          <p:cNvSpPr/>
          <p:nvPr/>
        </p:nvSpPr>
        <p:spPr>
          <a:xfrm flipV="1">
            <a:off x="9655364" y="2593731"/>
            <a:ext cx="0" cy="6664569"/>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540287"/>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38100"/>
              <a:ext cx="24384000" cy="2382910"/>
            </a:xfrm>
            <a:prstGeom prst="rect">
              <a:avLst/>
            </a:prstGeom>
          </p:spPr>
          <p:txBody>
            <a:bodyPr lIns="0" tIns="0" rIns="0" bIns="0" rtlCol="0" anchor="ctr"/>
            <a:lstStyle/>
            <a:p>
              <a:pPr algn="ctr">
                <a:lnSpc>
                  <a:spcPts val="7128"/>
                </a:lnSpc>
              </a:pPr>
              <a:r>
                <a:rPr lang="en-US" sz="6600" b="1" spc="-40">
                  <a:solidFill>
                    <a:srgbClr val="FF0000"/>
                  </a:solidFill>
                  <a:latin typeface="Times New Roman Bold"/>
                  <a:ea typeface="Times New Roman Bold"/>
                  <a:cs typeface="Times New Roman Bold"/>
                  <a:sym typeface="Times New Roman Bold"/>
                </a:rPr>
                <a:t>Dataset &amp; Security Features</a:t>
              </a:r>
            </a:p>
          </p:txBody>
        </p:sp>
      </p:grpSp>
      <p:sp>
        <p:nvSpPr>
          <p:cNvPr id="6" name="Freeform 6"/>
          <p:cNvSpPr/>
          <p:nvPr/>
        </p:nvSpPr>
        <p:spPr>
          <a:xfrm>
            <a:off x="666750" y="2281069"/>
            <a:ext cx="11301259" cy="3927187"/>
          </a:xfrm>
          <a:custGeom>
            <a:avLst/>
            <a:gdLst/>
            <a:ahLst/>
            <a:cxnLst/>
            <a:rect l="l" t="t" r="r" b="b"/>
            <a:pathLst>
              <a:path w="11301259" h="3927187">
                <a:moveTo>
                  <a:pt x="0" y="0"/>
                </a:moveTo>
                <a:lnTo>
                  <a:pt x="11301259" y="0"/>
                </a:lnTo>
                <a:lnTo>
                  <a:pt x="11301259" y="3927187"/>
                </a:lnTo>
                <a:lnTo>
                  <a:pt x="0" y="3927187"/>
                </a:lnTo>
                <a:lnTo>
                  <a:pt x="0" y="0"/>
                </a:lnTo>
                <a:close/>
              </a:path>
            </a:pathLst>
          </a:custGeom>
          <a:blipFill>
            <a:blip r:embed="rId4"/>
            <a:stretch>
              <a:fillRect/>
            </a:stretch>
          </a:blipFill>
        </p:spPr>
      </p:sp>
      <p:sp>
        <p:nvSpPr>
          <p:cNvPr id="7" name="Freeform 7"/>
          <p:cNvSpPr/>
          <p:nvPr/>
        </p:nvSpPr>
        <p:spPr>
          <a:xfrm>
            <a:off x="666750" y="6208256"/>
            <a:ext cx="11301259" cy="3616403"/>
          </a:xfrm>
          <a:custGeom>
            <a:avLst/>
            <a:gdLst/>
            <a:ahLst/>
            <a:cxnLst/>
            <a:rect l="l" t="t" r="r" b="b"/>
            <a:pathLst>
              <a:path w="11301259" h="3616403">
                <a:moveTo>
                  <a:pt x="0" y="0"/>
                </a:moveTo>
                <a:lnTo>
                  <a:pt x="11301259" y="0"/>
                </a:lnTo>
                <a:lnTo>
                  <a:pt x="11301259" y="3616403"/>
                </a:lnTo>
                <a:lnTo>
                  <a:pt x="0" y="3616403"/>
                </a:lnTo>
                <a:lnTo>
                  <a:pt x="0" y="0"/>
                </a:lnTo>
                <a:close/>
              </a:path>
            </a:pathLst>
          </a:custGeom>
          <a:blipFill>
            <a:blip r:embed="rId5"/>
            <a:stretch>
              <a:fillRect/>
            </a:stretch>
          </a:blipFill>
        </p:spPr>
      </p:sp>
      <p:sp>
        <p:nvSpPr>
          <p:cNvPr id="8" name="TextBox 8"/>
          <p:cNvSpPr txBox="1"/>
          <p:nvPr/>
        </p:nvSpPr>
        <p:spPr>
          <a:xfrm>
            <a:off x="12638224" y="2441769"/>
            <a:ext cx="5656789" cy="1802893"/>
          </a:xfrm>
          <a:prstGeom prst="rect">
            <a:avLst/>
          </a:prstGeom>
        </p:spPr>
        <p:txBody>
          <a:bodyPr lIns="0" tIns="0" rIns="0" bIns="0" rtlCol="0" anchor="t">
            <a:spAutoFit/>
          </a:bodyPr>
          <a:lstStyle/>
          <a:p>
            <a:pPr algn="l">
              <a:lnSpc>
                <a:spcPts val="3564"/>
              </a:lnSpc>
              <a:spcBef>
                <a:spcPct val="0"/>
              </a:spcBef>
            </a:pPr>
            <a:r>
              <a:rPr lang="en-US" sz="3300" spc="-19">
                <a:solidFill>
                  <a:srgbClr val="000000"/>
                </a:solidFill>
                <a:latin typeface="Atkinson Hyperlegible"/>
                <a:ea typeface="Atkinson Hyperlegible"/>
                <a:cs typeface="Atkinson Hyperlegible"/>
                <a:sym typeface="Atkinson Hyperlegible"/>
              </a:rPr>
              <a:t>Dataset: 5G Network Intrusion Detection Dataset</a:t>
            </a:r>
          </a:p>
          <a:p>
            <a:pPr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Size: ~1.2 million records</a:t>
            </a:r>
          </a:p>
          <a:p>
            <a:pPr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50+ network traffic features</a:t>
            </a:r>
          </a:p>
        </p:txBody>
      </p:sp>
      <p:sp>
        <p:nvSpPr>
          <p:cNvPr id="9" name="TextBox 9"/>
          <p:cNvSpPr txBox="1"/>
          <p:nvPr/>
        </p:nvSpPr>
        <p:spPr>
          <a:xfrm>
            <a:off x="12638224" y="4561371"/>
            <a:ext cx="4290774" cy="2250568"/>
          </a:xfrm>
          <a:prstGeom prst="rect">
            <a:avLst/>
          </a:prstGeom>
        </p:spPr>
        <p:txBody>
          <a:bodyPr lIns="0" tIns="0" rIns="0" bIns="0" rtlCol="0" anchor="t">
            <a:spAutoFit/>
          </a:bodyPr>
          <a:lstStyle/>
          <a:p>
            <a:pPr marL="0" lvl="0" indent="0" algn="l">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Feature Types</a:t>
            </a:r>
          </a:p>
          <a:p>
            <a:pPr marL="0" lvl="0" indent="0"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Packet-based features</a:t>
            </a:r>
          </a:p>
          <a:p>
            <a:pPr marL="0" lvl="0" indent="0"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Flow-based features</a:t>
            </a:r>
          </a:p>
          <a:p>
            <a:pPr marL="0" lvl="0" indent="0"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Time-based features</a:t>
            </a:r>
          </a:p>
          <a:p>
            <a:pPr marL="0" lvl="0" indent="0" algn="l">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Traffic behavior metrics</a:t>
            </a:r>
          </a:p>
        </p:txBody>
      </p:sp>
      <p:sp>
        <p:nvSpPr>
          <p:cNvPr id="10" name="TextBox 10"/>
          <p:cNvSpPr txBox="1"/>
          <p:nvPr/>
        </p:nvSpPr>
        <p:spPr>
          <a:xfrm>
            <a:off x="12653377" y="7505700"/>
            <a:ext cx="5802176" cy="1355218"/>
          </a:xfrm>
          <a:prstGeom prst="rect">
            <a:avLst/>
          </a:prstGeom>
        </p:spPr>
        <p:txBody>
          <a:bodyPr lIns="0" tIns="0" rIns="0" bIns="0" rtlCol="0" anchor="t">
            <a:spAutoFit/>
          </a:bodyPr>
          <a:lstStyle/>
          <a:p>
            <a:pPr marL="0" lvl="0" indent="0" algn="l">
              <a:lnSpc>
                <a:spcPts val="3564"/>
              </a:lnSpc>
              <a:spcBef>
                <a:spcPct val="0"/>
              </a:spcBef>
            </a:pPr>
            <a:r>
              <a:rPr lang="en-US" sz="3300" b="1" i="1" u="sng" strike="noStrike" spc="-19" dirty="0">
                <a:solidFill>
                  <a:srgbClr val="000000"/>
                </a:solidFill>
                <a:latin typeface="Atkinson Hyperlegible Bold Italics"/>
                <a:ea typeface="Atkinson Hyperlegible Bold Italics"/>
                <a:cs typeface="Atkinson Hyperlegible Bold Italics"/>
                <a:sym typeface="Atkinson Hyperlegible Bold Italics"/>
              </a:rPr>
              <a:t>Critical Issue Identified</a:t>
            </a:r>
          </a:p>
          <a:p>
            <a:pPr marL="0" lvl="0" indent="0" algn="l">
              <a:lnSpc>
                <a:spcPts val="3564"/>
              </a:lnSpc>
              <a:spcBef>
                <a:spcPct val="0"/>
              </a:spcBef>
            </a:pPr>
            <a:r>
              <a:rPr lang="en-US" sz="3300" u="none" strike="noStrike" spc="-19" dirty="0">
                <a:solidFill>
                  <a:srgbClr val="000000"/>
                </a:solidFill>
                <a:latin typeface="Atkinson Hyperlegible"/>
                <a:ea typeface="Atkinson Hyperlegible"/>
                <a:cs typeface="Atkinson Hyperlegible"/>
                <a:sym typeface="Atkinson Hyperlegible"/>
              </a:rPr>
              <a:t>Leakage features present:</a:t>
            </a:r>
          </a:p>
          <a:p>
            <a:pPr marL="0" lvl="0" indent="0" algn="l">
              <a:lnSpc>
                <a:spcPts val="3564"/>
              </a:lnSpc>
              <a:spcBef>
                <a:spcPct val="0"/>
              </a:spcBef>
            </a:pPr>
            <a:r>
              <a:rPr lang="en-US" sz="3300" u="none" strike="noStrike" spc="-19" dirty="0">
                <a:solidFill>
                  <a:srgbClr val="000000"/>
                </a:solidFill>
                <a:latin typeface="Atkinson Hyperlegible"/>
                <a:ea typeface="Atkinson Hyperlegible"/>
                <a:cs typeface="Atkinson Hyperlegible"/>
                <a:sym typeface="Atkinson Hyperlegible"/>
              </a:rPr>
              <a:t>Seq, </a:t>
            </a:r>
            <a:r>
              <a:rPr lang="en-US" sz="3300" u="none" strike="noStrike" spc="-19" dirty="0" err="1">
                <a:solidFill>
                  <a:srgbClr val="000000"/>
                </a:solidFill>
                <a:latin typeface="Atkinson Hyperlegible"/>
                <a:ea typeface="Atkinson Hyperlegible"/>
                <a:cs typeface="Atkinson Hyperlegible"/>
                <a:sym typeface="Atkinson Hyperlegible"/>
              </a:rPr>
              <a:t>RunTime</a:t>
            </a:r>
            <a:r>
              <a:rPr lang="en-US" sz="3300" u="none" strike="noStrike" spc="-19" dirty="0">
                <a:solidFill>
                  <a:srgbClr val="000000"/>
                </a:solidFill>
                <a:latin typeface="Atkinson Hyperlegible"/>
                <a:ea typeface="Atkinson Hyperlegible"/>
                <a:cs typeface="Atkinson Hyperlegible"/>
                <a:sym typeface="Atkinson Hyperlegible"/>
              </a:rPr>
              <a:t>, Offset, Dur</a:t>
            </a:r>
          </a:p>
        </p:txBody>
      </p:sp>
      <p:sp>
        <p:nvSpPr>
          <p:cNvPr id="11" name="AutoShape 11"/>
          <p:cNvSpPr/>
          <p:nvPr/>
        </p:nvSpPr>
        <p:spPr>
          <a:xfrm flipH="1" flipV="1">
            <a:off x="12303117" y="2281069"/>
            <a:ext cx="0" cy="7284038"/>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540287"/>
            <a:ext cx="18288000" cy="1815757"/>
            <a:chOff x="0" y="0"/>
            <a:chExt cx="24384000" cy="2421010"/>
          </a:xfrm>
        </p:grpSpPr>
        <p:sp>
          <p:nvSpPr>
            <p:cNvPr id="4" name="Freeform 4"/>
            <p:cNvSpPr/>
            <p:nvPr/>
          </p:nvSpPr>
          <p:spPr>
            <a:xfrm>
              <a:off x="0" y="0"/>
              <a:ext cx="24384000" cy="2421006"/>
            </a:xfrm>
            <a:custGeom>
              <a:avLst/>
              <a:gdLst/>
              <a:ahLst/>
              <a:cxnLst/>
              <a:rect l="l" t="t" r="r" b="b"/>
              <a:pathLst>
                <a:path w="24384000" h="2421006">
                  <a:moveTo>
                    <a:pt x="0" y="0"/>
                  </a:moveTo>
                  <a:lnTo>
                    <a:pt x="24384000" y="0"/>
                  </a:lnTo>
                  <a:lnTo>
                    <a:pt x="24384000" y="2421006"/>
                  </a:lnTo>
                  <a:lnTo>
                    <a:pt x="0" y="2421006"/>
                  </a:lnTo>
                  <a:close/>
                </a:path>
              </a:pathLst>
            </a:custGeom>
            <a:blipFill>
              <a:blip r:embed="rId3">
                <a:alphaModFix amt="0"/>
              </a:blip>
              <a:stretch>
                <a:fillRect t="-126625" r="10000" b="-126625"/>
              </a:stretch>
            </a:blipFill>
          </p:spPr>
        </p:sp>
        <p:sp>
          <p:nvSpPr>
            <p:cNvPr id="5" name="TextBox 5"/>
            <p:cNvSpPr txBox="1"/>
            <p:nvPr/>
          </p:nvSpPr>
          <p:spPr>
            <a:xfrm>
              <a:off x="0" y="38100"/>
              <a:ext cx="24384000" cy="2382910"/>
            </a:xfrm>
            <a:prstGeom prst="rect">
              <a:avLst/>
            </a:prstGeom>
          </p:spPr>
          <p:txBody>
            <a:bodyPr lIns="0" tIns="0" rIns="0" bIns="0" rtlCol="0" anchor="ctr"/>
            <a:lstStyle/>
            <a:p>
              <a:pPr algn="ctr">
                <a:lnSpc>
                  <a:spcPts val="7128"/>
                </a:lnSpc>
              </a:pPr>
              <a:r>
                <a:rPr lang="en-US" sz="6600" b="1" spc="-40">
                  <a:solidFill>
                    <a:srgbClr val="FF0000"/>
                  </a:solidFill>
                  <a:latin typeface="Times New Roman Bold"/>
                  <a:ea typeface="Times New Roman Bold"/>
                  <a:cs typeface="Times New Roman Bold"/>
                  <a:sym typeface="Times New Roman Bold"/>
                </a:rPr>
                <a:t>Data Preprocessing</a:t>
              </a:r>
            </a:p>
          </p:txBody>
        </p:sp>
      </p:grpSp>
      <p:sp>
        <p:nvSpPr>
          <p:cNvPr id="6" name="Freeform 6"/>
          <p:cNvSpPr/>
          <p:nvPr/>
        </p:nvSpPr>
        <p:spPr>
          <a:xfrm>
            <a:off x="484685" y="2467405"/>
            <a:ext cx="11301259" cy="6003794"/>
          </a:xfrm>
          <a:custGeom>
            <a:avLst/>
            <a:gdLst/>
            <a:ahLst/>
            <a:cxnLst/>
            <a:rect l="l" t="t" r="r" b="b"/>
            <a:pathLst>
              <a:path w="11301259" h="6003794">
                <a:moveTo>
                  <a:pt x="0" y="0"/>
                </a:moveTo>
                <a:lnTo>
                  <a:pt x="11301258" y="0"/>
                </a:lnTo>
                <a:lnTo>
                  <a:pt x="11301258" y="6003794"/>
                </a:lnTo>
                <a:lnTo>
                  <a:pt x="0" y="6003794"/>
                </a:lnTo>
                <a:lnTo>
                  <a:pt x="0" y="0"/>
                </a:lnTo>
                <a:close/>
              </a:path>
            </a:pathLst>
          </a:custGeom>
          <a:blipFill>
            <a:blip r:embed="rId4"/>
            <a:stretch>
              <a:fillRect/>
            </a:stretch>
          </a:blipFill>
        </p:spPr>
      </p:sp>
      <p:sp>
        <p:nvSpPr>
          <p:cNvPr id="7" name="TextBox 7"/>
          <p:cNvSpPr txBox="1"/>
          <p:nvPr/>
        </p:nvSpPr>
        <p:spPr>
          <a:xfrm>
            <a:off x="12498474" y="2171700"/>
            <a:ext cx="5656789" cy="1802893"/>
          </a:xfrm>
          <a:prstGeom prst="rect">
            <a:avLst/>
          </a:prstGeom>
        </p:spPr>
        <p:txBody>
          <a:bodyPr lIns="0" tIns="0" rIns="0" bIns="0" rtlCol="0" anchor="t">
            <a:spAutoFit/>
          </a:bodyPr>
          <a:lstStyle/>
          <a:p>
            <a:pPr algn="l">
              <a:lnSpc>
                <a:spcPts val="3564"/>
              </a:lnSpc>
              <a:spcBef>
                <a:spcPct val="0"/>
              </a:spcBef>
            </a:pPr>
            <a:r>
              <a:rPr lang="en-US" sz="3300" b="1" i="1" u="sng" spc="-19" dirty="0">
                <a:solidFill>
                  <a:srgbClr val="000000"/>
                </a:solidFill>
                <a:latin typeface="Atkinson Hyperlegible Bold Italics"/>
                <a:ea typeface="Atkinson Hyperlegible Bold Italics"/>
                <a:cs typeface="Atkinson Hyperlegible Bold Italics"/>
                <a:sym typeface="Atkinson Hyperlegible Bold Italics"/>
              </a:rPr>
              <a:t>Data Cleaning</a:t>
            </a:r>
          </a:p>
          <a:p>
            <a:pPr marL="712488" lvl="1" indent="-356244" algn="l">
              <a:lnSpc>
                <a:spcPts val="3564"/>
              </a:lnSpc>
              <a:spcBef>
                <a:spcPct val="0"/>
              </a:spcBef>
              <a:buFont typeface="Arial"/>
              <a:buChar char="•"/>
            </a:pPr>
            <a:r>
              <a:rPr lang="en-US" sz="3300" spc="-19" dirty="0">
                <a:solidFill>
                  <a:srgbClr val="000000"/>
                </a:solidFill>
                <a:latin typeface="Atkinson Hyperlegible"/>
                <a:ea typeface="Atkinson Hyperlegible"/>
                <a:cs typeface="Atkinson Hyperlegible"/>
                <a:sym typeface="Atkinson Hyperlegible"/>
              </a:rPr>
              <a:t>Removed duplicates</a:t>
            </a:r>
          </a:p>
          <a:p>
            <a:pPr marL="712488" lvl="1" indent="-356244" algn="l">
              <a:lnSpc>
                <a:spcPts val="3564"/>
              </a:lnSpc>
              <a:spcBef>
                <a:spcPct val="0"/>
              </a:spcBef>
              <a:buFont typeface="Arial"/>
              <a:buChar char="•"/>
            </a:pPr>
            <a:r>
              <a:rPr lang="en-US" sz="3300" spc="-19" dirty="0">
                <a:solidFill>
                  <a:srgbClr val="000000"/>
                </a:solidFill>
                <a:latin typeface="Atkinson Hyperlegible"/>
                <a:ea typeface="Atkinson Hyperlegible"/>
                <a:cs typeface="Atkinson Hyperlegible"/>
                <a:sym typeface="Atkinson Hyperlegible"/>
              </a:rPr>
              <a:t>Handled missing and infinite values</a:t>
            </a:r>
          </a:p>
        </p:txBody>
      </p:sp>
      <p:sp>
        <p:nvSpPr>
          <p:cNvPr id="8" name="TextBox 8"/>
          <p:cNvSpPr txBox="1"/>
          <p:nvPr/>
        </p:nvSpPr>
        <p:spPr>
          <a:xfrm>
            <a:off x="12498474" y="4045548"/>
            <a:ext cx="5656789" cy="2773323"/>
          </a:xfrm>
          <a:prstGeom prst="rect">
            <a:avLst/>
          </a:prstGeom>
        </p:spPr>
        <p:txBody>
          <a:bodyPr lIns="0" tIns="0" rIns="0" bIns="0" rtlCol="0" anchor="t">
            <a:spAutoFit/>
          </a:bodyPr>
          <a:lstStyle/>
          <a:p>
            <a:pPr marL="0" lvl="0" indent="0" algn="l">
              <a:lnSpc>
                <a:spcPts val="3564"/>
              </a:lnSpc>
              <a:spcBef>
                <a:spcPct val="0"/>
              </a:spcBef>
            </a:pPr>
            <a:r>
              <a:rPr lang="en-US" sz="3300" b="1" i="1" u="sng" spc="-19" dirty="0">
                <a:solidFill>
                  <a:srgbClr val="000000"/>
                </a:solidFill>
                <a:latin typeface="Atkinson Hyperlegible Bold Italics"/>
                <a:ea typeface="Atkinson Hyperlegible Bold Italics"/>
                <a:cs typeface="Atkinson Hyperlegible Bold Italics"/>
                <a:sym typeface="Atkinson Hyperlegible Bold Italics"/>
              </a:rPr>
              <a:t>L</a:t>
            </a:r>
            <a:r>
              <a:rPr lang="en-US" sz="3300" b="1" i="1" u="sng" strike="noStrike" spc="-19" dirty="0">
                <a:solidFill>
                  <a:srgbClr val="000000"/>
                </a:solidFill>
                <a:latin typeface="Atkinson Hyperlegible Bold Italics"/>
                <a:ea typeface="Atkinson Hyperlegible Bold Italics"/>
                <a:cs typeface="Atkinson Hyperlegible Bold Italics"/>
                <a:sym typeface="Atkinson Hyperlegible Bold Italics"/>
              </a:rPr>
              <a:t>eakage Removal (Key Innovation)</a:t>
            </a:r>
          </a:p>
          <a:p>
            <a:pPr marL="712488" lvl="1" indent="-356244" algn="l">
              <a:lnSpc>
                <a:spcPts val="3564"/>
              </a:lnSpc>
              <a:spcBef>
                <a:spcPct val="0"/>
              </a:spcBef>
              <a:buFont typeface="Arial"/>
              <a:buChar char="•"/>
            </a:pPr>
            <a:r>
              <a:rPr lang="en-US" sz="3300" strike="noStrike" spc="-19" dirty="0">
                <a:solidFill>
                  <a:srgbClr val="000000"/>
                </a:solidFill>
                <a:latin typeface="Atkinson Hyperlegible"/>
                <a:ea typeface="Atkinson Hyperlegible"/>
                <a:cs typeface="Atkinson Hyperlegible"/>
                <a:sym typeface="Atkinson Hyperlegible"/>
              </a:rPr>
              <a:t>Removed: Seq, </a:t>
            </a:r>
            <a:r>
              <a:rPr lang="en-US" sz="3300" strike="noStrike" spc="-19" dirty="0" err="1">
                <a:solidFill>
                  <a:srgbClr val="000000"/>
                </a:solidFill>
                <a:latin typeface="Atkinson Hyperlegible"/>
                <a:ea typeface="Atkinson Hyperlegible"/>
                <a:cs typeface="Atkinson Hyperlegible"/>
                <a:sym typeface="Atkinson Hyperlegible"/>
              </a:rPr>
              <a:t>RunTime</a:t>
            </a:r>
            <a:r>
              <a:rPr lang="en-US" sz="3300" strike="noStrike" spc="-19" dirty="0">
                <a:solidFill>
                  <a:srgbClr val="000000"/>
                </a:solidFill>
                <a:latin typeface="Atkinson Hyperlegible"/>
                <a:ea typeface="Atkinson Hyperlegible"/>
                <a:cs typeface="Atkinson Hyperlegible"/>
                <a:sym typeface="Atkinson Hyperlegible"/>
              </a:rPr>
              <a:t>, Offset, Dur</a:t>
            </a:r>
          </a:p>
          <a:p>
            <a:pPr marL="712488" lvl="1" indent="-356244" algn="l">
              <a:lnSpc>
                <a:spcPts val="3564"/>
              </a:lnSpc>
              <a:spcBef>
                <a:spcPct val="0"/>
              </a:spcBef>
              <a:buFont typeface="Arial"/>
              <a:buChar char="•"/>
            </a:pPr>
            <a:r>
              <a:rPr lang="en-US" sz="3300" strike="noStrike" spc="-19" dirty="0">
                <a:solidFill>
                  <a:srgbClr val="000000"/>
                </a:solidFill>
                <a:latin typeface="Atkinson Hyperlegible"/>
                <a:ea typeface="Atkinson Hyperlegible"/>
                <a:cs typeface="Atkinson Hyperlegible"/>
                <a:sym typeface="Atkinson Hyperlegible"/>
              </a:rPr>
              <a:t>Prevented models from learning false patterns</a:t>
            </a:r>
          </a:p>
        </p:txBody>
      </p:sp>
      <p:sp>
        <p:nvSpPr>
          <p:cNvPr id="9" name="TextBox 9"/>
          <p:cNvSpPr txBox="1"/>
          <p:nvPr/>
        </p:nvSpPr>
        <p:spPr>
          <a:xfrm>
            <a:off x="12498474" y="6885194"/>
            <a:ext cx="5267781" cy="2698243"/>
          </a:xfrm>
          <a:prstGeom prst="rect">
            <a:avLst/>
          </a:prstGeom>
        </p:spPr>
        <p:txBody>
          <a:bodyPr lIns="0" tIns="0" rIns="0" bIns="0" rtlCol="0" anchor="t">
            <a:spAutoFit/>
          </a:bodyPr>
          <a:lstStyle/>
          <a:p>
            <a:pPr marL="0" lvl="0" indent="0" algn="l">
              <a:lnSpc>
                <a:spcPts val="3564"/>
              </a:lnSpc>
              <a:spcBef>
                <a:spcPct val="0"/>
              </a:spcBef>
            </a:pPr>
            <a:r>
              <a:rPr lang="en-US" sz="3300" b="1" i="1" u="sng" spc="-19" dirty="0">
                <a:solidFill>
                  <a:srgbClr val="000000"/>
                </a:solidFill>
                <a:latin typeface="Atkinson Hyperlegible Bold Italics"/>
                <a:ea typeface="Atkinson Hyperlegible Bold Italics"/>
                <a:cs typeface="Atkinson Hyperlegible Bold Italics"/>
                <a:sym typeface="Atkinson Hyperlegible Bold Italics"/>
              </a:rPr>
              <a:t>Fe</a:t>
            </a:r>
            <a:r>
              <a:rPr lang="en-US" sz="3300" b="1" i="1" u="sng" strike="noStrike" spc="-19" dirty="0">
                <a:solidFill>
                  <a:srgbClr val="000000"/>
                </a:solidFill>
                <a:latin typeface="Atkinson Hyperlegible Bold Italics"/>
                <a:ea typeface="Atkinson Hyperlegible Bold Italics"/>
                <a:cs typeface="Atkinson Hyperlegible Bold Italics"/>
                <a:sym typeface="Atkinson Hyperlegible Bold Italics"/>
              </a:rPr>
              <a:t>ature Engineering</a:t>
            </a:r>
          </a:p>
          <a:p>
            <a:pPr marL="0" lvl="0" indent="0" algn="l">
              <a:lnSpc>
                <a:spcPts val="3564"/>
              </a:lnSpc>
              <a:spcBef>
                <a:spcPct val="0"/>
              </a:spcBef>
            </a:pPr>
            <a:r>
              <a:rPr lang="en-US" sz="3300" strike="noStrike" spc="-19" dirty="0">
                <a:solidFill>
                  <a:srgbClr val="000000"/>
                </a:solidFill>
                <a:latin typeface="Atkinson Hyperlegible"/>
                <a:ea typeface="Atkinson Hyperlegible"/>
                <a:cs typeface="Atkinson Hyperlegible"/>
                <a:sym typeface="Atkinson Hyperlegible"/>
              </a:rPr>
              <a:t>Created meaningful features:</a:t>
            </a:r>
          </a:p>
          <a:p>
            <a:pPr marL="712488" lvl="1" indent="-356244" algn="l">
              <a:lnSpc>
                <a:spcPts val="3564"/>
              </a:lnSpc>
              <a:spcBef>
                <a:spcPct val="0"/>
              </a:spcBef>
              <a:buFont typeface="Arial"/>
              <a:buChar char="•"/>
            </a:pPr>
            <a:r>
              <a:rPr lang="en-US" sz="3300" strike="noStrike" spc="-19" dirty="0">
                <a:solidFill>
                  <a:srgbClr val="000000"/>
                </a:solidFill>
                <a:latin typeface="Atkinson Hyperlegible"/>
                <a:ea typeface="Atkinson Hyperlegible"/>
                <a:cs typeface="Atkinson Hyperlegible"/>
                <a:sym typeface="Atkinson Hyperlegible"/>
              </a:rPr>
              <a:t>Packet Rate</a:t>
            </a:r>
          </a:p>
          <a:p>
            <a:pPr marL="712488" lvl="1" indent="-356244" algn="l">
              <a:lnSpc>
                <a:spcPts val="3564"/>
              </a:lnSpc>
              <a:spcBef>
                <a:spcPct val="0"/>
              </a:spcBef>
              <a:buFont typeface="Arial"/>
              <a:buChar char="•"/>
            </a:pPr>
            <a:r>
              <a:rPr lang="en-US" sz="3300" strike="noStrike" spc="-19" dirty="0">
                <a:solidFill>
                  <a:srgbClr val="000000"/>
                </a:solidFill>
                <a:latin typeface="Atkinson Hyperlegible"/>
                <a:ea typeface="Atkinson Hyperlegible"/>
                <a:cs typeface="Atkinson Hyperlegible"/>
                <a:sym typeface="Atkinson Hyperlegible"/>
              </a:rPr>
              <a:t>Source/Destination Ratio</a:t>
            </a:r>
          </a:p>
          <a:p>
            <a:pPr marL="712488" lvl="1" indent="-356244" algn="l">
              <a:lnSpc>
                <a:spcPts val="3564"/>
              </a:lnSpc>
              <a:spcBef>
                <a:spcPct val="0"/>
              </a:spcBef>
              <a:buFont typeface="Arial"/>
              <a:buChar char="•"/>
            </a:pPr>
            <a:r>
              <a:rPr lang="en-US" sz="3300" strike="noStrike" spc="-19" dirty="0">
                <a:solidFill>
                  <a:srgbClr val="000000"/>
                </a:solidFill>
                <a:latin typeface="Atkinson Hyperlegible"/>
                <a:ea typeface="Atkinson Hyperlegible"/>
                <a:cs typeface="Atkinson Hyperlegible"/>
                <a:sym typeface="Atkinson Hyperlegible"/>
              </a:rPr>
              <a:t>Average Packet Size</a:t>
            </a:r>
          </a:p>
        </p:txBody>
      </p:sp>
      <p:sp>
        <p:nvSpPr>
          <p:cNvPr id="10" name="AutoShape 10"/>
          <p:cNvSpPr/>
          <p:nvPr/>
        </p:nvSpPr>
        <p:spPr>
          <a:xfrm flipV="1">
            <a:off x="12219638" y="2384841"/>
            <a:ext cx="0" cy="7573440"/>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128270"/>
            <a:chOff x="0" y="0"/>
            <a:chExt cx="24384000" cy="1504360"/>
          </a:xfrm>
        </p:grpSpPr>
        <p:sp>
          <p:nvSpPr>
            <p:cNvPr id="4" name="Freeform 4"/>
            <p:cNvSpPr/>
            <p:nvPr/>
          </p:nvSpPr>
          <p:spPr>
            <a:xfrm>
              <a:off x="0" y="0"/>
              <a:ext cx="24384000" cy="1504352"/>
            </a:xfrm>
            <a:custGeom>
              <a:avLst/>
              <a:gdLst/>
              <a:ahLst/>
              <a:cxnLst/>
              <a:rect l="l" t="t" r="r" b="b"/>
              <a:pathLst>
                <a:path w="24384000" h="1504352">
                  <a:moveTo>
                    <a:pt x="0" y="0"/>
                  </a:moveTo>
                  <a:lnTo>
                    <a:pt x="24384000" y="0"/>
                  </a:lnTo>
                  <a:lnTo>
                    <a:pt x="24384000" y="1504352"/>
                  </a:lnTo>
                  <a:lnTo>
                    <a:pt x="0" y="1504352"/>
                  </a:lnTo>
                  <a:close/>
                </a:path>
              </a:pathLst>
            </a:custGeom>
            <a:blipFill>
              <a:blip r:embed="rId3">
                <a:alphaModFix amt="0"/>
              </a:blip>
              <a:stretch>
                <a:fillRect t="-103100" r="55048" b="-80845"/>
              </a:stretch>
            </a:blipFill>
          </p:spPr>
        </p:sp>
        <p:sp>
          <p:nvSpPr>
            <p:cNvPr id="5" name="TextBox 5"/>
            <p:cNvSpPr txBox="1"/>
            <p:nvPr/>
          </p:nvSpPr>
          <p:spPr>
            <a:xfrm>
              <a:off x="0" y="57150"/>
              <a:ext cx="24384000" cy="1447210"/>
            </a:xfrm>
            <a:prstGeom prst="rect">
              <a:avLst/>
            </a:prstGeom>
          </p:spPr>
          <p:txBody>
            <a:bodyPr lIns="0" tIns="0" rIns="0" bIns="0" rtlCol="0" anchor="ctr"/>
            <a:lstStyle/>
            <a:p>
              <a:pPr marL="0" lvl="0" indent="0" algn="ctr">
                <a:lnSpc>
                  <a:spcPts val="6048"/>
                </a:lnSpc>
                <a:spcBef>
                  <a:spcPct val="0"/>
                </a:spcBef>
              </a:pPr>
              <a:r>
                <a:rPr lang="en-US" sz="5600" b="1" spc="-34">
                  <a:solidFill>
                    <a:srgbClr val="FF0000"/>
                  </a:solidFill>
                  <a:latin typeface="TT Rounds Condensed Bold"/>
                  <a:ea typeface="TT Rounds Condensed Bold"/>
                  <a:cs typeface="TT Rounds Condensed Bold"/>
                  <a:sym typeface="TT Rounds Condensed Bold"/>
                </a:rPr>
                <a:t>M</a:t>
              </a:r>
              <a:r>
                <a:rPr lang="en-US" sz="5600" b="1" u="none" strike="noStrike" spc="-34">
                  <a:solidFill>
                    <a:srgbClr val="FF0000"/>
                  </a:solidFill>
                  <a:latin typeface="TT Rounds Condensed Bold"/>
                  <a:ea typeface="TT Rounds Condensed Bold"/>
                  <a:cs typeface="TT Rounds Condensed Bold"/>
                  <a:sym typeface="TT Rounds Condensed Bold"/>
                </a:rPr>
                <a:t>L-Based Threat Detection</a:t>
              </a:r>
            </a:p>
          </p:txBody>
        </p:sp>
      </p:grpSp>
      <p:sp>
        <p:nvSpPr>
          <p:cNvPr id="6" name="Freeform 6"/>
          <p:cNvSpPr/>
          <p:nvPr/>
        </p:nvSpPr>
        <p:spPr>
          <a:xfrm>
            <a:off x="1584729" y="6877574"/>
            <a:ext cx="15118542" cy="2211087"/>
          </a:xfrm>
          <a:custGeom>
            <a:avLst/>
            <a:gdLst/>
            <a:ahLst/>
            <a:cxnLst/>
            <a:rect l="l" t="t" r="r" b="b"/>
            <a:pathLst>
              <a:path w="15118542" h="2211087">
                <a:moveTo>
                  <a:pt x="0" y="0"/>
                </a:moveTo>
                <a:lnTo>
                  <a:pt x="15118542" y="0"/>
                </a:lnTo>
                <a:lnTo>
                  <a:pt x="15118542" y="2211087"/>
                </a:lnTo>
                <a:lnTo>
                  <a:pt x="0" y="2211087"/>
                </a:lnTo>
                <a:lnTo>
                  <a:pt x="0" y="0"/>
                </a:lnTo>
                <a:close/>
              </a:path>
            </a:pathLst>
          </a:custGeom>
          <a:blipFill>
            <a:blip r:embed="rId4"/>
            <a:stretch>
              <a:fillRect/>
            </a:stretch>
          </a:blipFill>
        </p:spPr>
      </p:sp>
      <p:sp>
        <p:nvSpPr>
          <p:cNvPr id="7" name="TextBox 7"/>
          <p:cNvSpPr txBox="1"/>
          <p:nvPr/>
        </p:nvSpPr>
        <p:spPr>
          <a:xfrm>
            <a:off x="1584729" y="2316239"/>
            <a:ext cx="5113762" cy="3339466"/>
          </a:xfrm>
          <a:prstGeom prst="rect">
            <a:avLst/>
          </a:prstGeom>
        </p:spPr>
        <p:txBody>
          <a:bodyPr lIns="0" tIns="0" rIns="0" bIns="0" rtlCol="0" anchor="t">
            <a:spAutoFit/>
          </a:bodyPr>
          <a:lstStyle/>
          <a:p>
            <a:pPr algn="l">
              <a:lnSpc>
                <a:spcPts val="3780"/>
              </a:lnSpc>
              <a:spcBef>
                <a:spcPct val="0"/>
              </a:spcBef>
            </a:pPr>
            <a:r>
              <a:rPr lang="en-US" sz="3500" spc="-21">
                <a:solidFill>
                  <a:srgbClr val="000000"/>
                </a:solidFill>
                <a:latin typeface="Atkinson Hyperlegible"/>
                <a:ea typeface="Atkinson Hyperlegible"/>
                <a:cs typeface="Atkinson Hyperlegible"/>
                <a:sym typeface="Atkinson Hyperlegible"/>
              </a:rPr>
              <a:t>Top M</a:t>
            </a:r>
            <a:r>
              <a:rPr lang="en-US" sz="3500" strike="noStrike" spc="-21">
                <a:solidFill>
                  <a:srgbClr val="000000"/>
                </a:solidFill>
                <a:latin typeface="Atkinson Hyperlegible"/>
                <a:ea typeface="Atkinson Hyperlegible"/>
                <a:cs typeface="Atkinson Hyperlegible"/>
                <a:sym typeface="Atkinson Hyperlegible"/>
              </a:rPr>
              <a:t>odel Pe</a:t>
            </a:r>
            <a:r>
              <a:rPr lang="en-US" sz="3500" u="none" strike="noStrike" spc="-21">
                <a:solidFill>
                  <a:srgbClr val="000000"/>
                </a:solidFill>
                <a:latin typeface="Atkinson Hyperlegible"/>
                <a:ea typeface="Atkinson Hyperlegible"/>
                <a:cs typeface="Atkinson Hyperlegible"/>
                <a:sym typeface="Atkinson Hyperlegible"/>
              </a:rPr>
              <a:t>rf</a:t>
            </a:r>
            <a:r>
              <a:rPr lang="en-US" sz="3500" strike="noStrike" spc="-21">
                <a:solidFill>
                  <a:srgbClr val="000000"/>
                </a:solidFill>
                <a:latin typeface="Atkinson Hyperlegible"/>
                <a:ea typeface="Atkinson Hyperlegible"/>
                <a:cs typeface="Atkinson Hyperlegible"/>
                <a:sym typeface="Atkinson Hyperlegible"/>
              </a:rPr>
              <a:t>ormance</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Best Model: Gradient Boosting</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Accuracy: 95.79%</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F1-Score: 0.9577</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CV Score: 0.9581</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CV Stability: ±0.0002</a:t>
            </a:r>
          </a:p>
        </p:txBody>
      </p:sp>
      <p:sp>
        <p:nvSpPr>
          <p:cNvPr id="8" name="TextBox 8"/>
          <p:cNvSpPr txBox="1"/>
          <p:nvPr/>
        </p:nvSpPr>
        <p:spPr>
          <a:xfrm>
            <a:off x="7827805" y="2316239"/>
            <a:ext cx="9431495" cy="4291966"/>
          </a:xfrm>
          <a:prstGeom prst="rect">
            <a:avLst/>
          </a:prstGeom>
        </p:spPr>
        <p:txBody>
          <a:bodyPr lIns="0" tIns="0" rIns="0" bIns="0" rtlCol="0" anchor="t">
            <a:spAutoFit/>
          </a:bodyPr>
          <a:lstStyle/>
          <a:p>
            <a:pPr algn="l">
              <a:lnSpc>
                <a:spcPts val="3780"/>
              </a:lnSpc>
              <a:spcBef>
                <a:spcPct val="0"/>
              </a:spcBef>
            </a:pPr>
            <a:r>
              <a:rPr lang="en-US" sz="3500" u="none" strike="noStrike" spc="-21">
                <a:solidFill>
                  <a:srgbClr val="000000"/>
                </a:solidFill>
                <a:latin typeface="Atkinson Hyperlegible"/>
                <a:ea typeface="Atkinson Hyperlegible"/>
                <a:cs typeface="Atkinson Hyperlegible"/>
                <a:sym typeface="Atkinson Hyperlegible"/>
              </a:rPr>
              <a:t>Model Comparison Insights</a:t>
            </a:r>
          </a:p>
          <a:p>
            <a:pPr marL="755667" lvl="1" indent="-377833" algn="l">
              <a:lnSpc>
                <a:spcPts val="3780"/>
              </a:lnSpc>
              <a:spcBef>
                <a:spcPct val="0"/>
              </a:spcBef>
              <a:buFont typeface="Arial"/>
              <a:buChar char="•"/>
            </a:pPr>
            <a:r>
              <a:rPr lang="en-US" sz="3500" u="none" strike="noStrike" spc="-21">
                <a:solidFill>
                  <a:srgbClr val="000000"/>
                </a:solidFill>
                <a:latin typeface="Atkinson Hyperlegible"/>
                <a:ea typeface="Atkinson Hyperlegible"/>
                <a:cs typeface="Atkinson Hyperlegible"/>
                <a:sym typeface="Atkinson Hyperlegible"/>
              </a:rPr>
              <a:t>Gradient Boosting, XGBoost, and LightGBM delivered top-tier performance (~95–96%)</a:t>
            </a:r>
          </a:p>
          <a:p>
            <a:pPr marL="755667" lvl="1" indent="-377833" algn="l">
              <a:lnSpc>
                <a:spcPts val="3780"/>
              </a:lnSpc>
              <a:spcBef>
                <a:spcPct val="0"/>
              </a:spcBef>
              <a:buFont typeface="Arial"/>
              <a:buChar char="•"/>
            </a:pPr>
            <a:r>
              <a:rPr lang="en-US" sz="3500" u="none" strike="noStrike" spc="-21">
                <a:solidFill>
                  <a:srgbClr val="000000"/>
                </a:solidFill>
                <a:latin typeface="Atkinson Hyperlegible"/>
                <a:ea typeface="Atkinson Hyperlegible"/>
                <a:cs typeface="Atkinson Hyperlegible"/>
                <a:sym typeface="Atkinson Hyperlegible"/>
              </a:rPr>
              <a:t>Decision Tree also performed competitively with strong interpretability</a:t>
            </a:r>
          </a:p>
          <a:p>
            <a:pPr marL="755667" lvl="1" indent="-377833" algn="l">
              <a:lnSpc>
                <a:spcPts val="3780"/>
              </a:lnSpc>
              <a:spcBef>
                <a:spcPct val="0"/>
              </a:spcBef>
              <a:buFont typeface="Arial"/>
              <a:buChar char="•"/>
            </a:pPr>
            <a:r>
              <a:rPr lang="en-US" sz="3500" u="none" strike="noStrike" spc="-21">
                <a:solidFill>
                  <a:srgbClr val="000000"/>
                </a:solidFill>
                <a:latin typeface="Atkinson Hyperlegible"/>
                <a:ea typeface="Atkinson Hyperlegible"/>
                <a:cs typeface="Atkinson Hyperlegible"/>
                <a:sym typeface="Atkinson Hyperlegible"/>
              </a:rPr>
              <a:t>Random Forest and Neural Networks showed slightly lower but stable results</a:t>
            </a:r>
          </a:p>
          <a:p>
            <a:pPr marL="755667" lvl="1" indent="-377833" algn="l">
              <a:lnSpc>
                <a:spcPts val="3780"/>
              </a:lnSpc>
              <a:spcBef>
                <a:spcPct val="0"/>
              </a:spcBef>
              <a:buFont typeface="Arial"/>
              <a:buChar char="•"/>
            </a:pPr>
            <a:r>
              <a:rPr lang="en-US" sz="3500" u="none" strike="noStrike" spc="-21">
                <a:solidFill>
                  <a:srgbClr val="000000"/>
                </a:solidFill>
                <a:latin typeface="Atkinson Hyperlegible"/>
                <a:ea typeface="Atkinson Hyperlegible"/>
                <a:cs typeface="Atkinson Hyperlegible"/>
                <a:sym typeface="Atkinson Hyperlegible"/>
              </a:rPr>
              <a:t>Logistic Regression underperformed due to inability to capture complex patterns</a:t>
            </a:r>
          </a:p>
        </p:txBody>
      </p:sp>
      <p:sp>
        <p:nvSpPr>
          <p:cNvPr id="9" name="AutoShape 9"/>
          <p:cNvSpPr/>
          <p:nvPr/>
        </p:nvSpPr>
        <p:spPr>
          <a:xfrm flipH="1" flipV="1">
            <a:off x="7263148" y="2268614"/>
            <a:ext cx="0" cy="4339591"/>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128270"/>
            <a:chOff x="0" y="0"/>
            <a:chExt cx="24384000" cy="1504360"/>
          </a:xfrm>
        </p:grpSpPr>
        <p:sp>
          <p:nvSpPr>
            <p:cNvPr id="4" name="Freeform 4"/>
            <p:cNvSpPr/>
            <p:nvPr/>
          </p:nvSpPr>
          <p:spPr>
            <a:xfrm>
              <a:off x="0" y="0"/>
              <a:ext cx="24384000" cy="1504352"/>
            </a:xfrm>
            <a:custGeom>
              <a:avLst/>
              <a:gdLst/>
              <a:ahLst/>
              <a:cxnLst/>
              <a:rect l="l" t="t" r="r" b="b"/>
              <a:pathLst>
                <a:path w="24384000" h="1504352">
                  <a:moveTo>
                    <a:pt x="0" y="0"/>
                  </a:moveTo>
                  <a:lnTo>
                    <a:pt x="24384000" y="0"/>
                  </a:lnTo>
                  <a:lnTo>
                    <a:pt x="24384000" y="1504352"/>
                  </a:lnTo>
                  <a:lnTo>
                    <a:pt x="0" y="1504352"/>
                  </a:lnTo>
                  <a:close/>
                </a:path>
              </a:pathLst>
            </a:custGeom>
            <a:blipFill>
              <a:blip r:embed="rId3">
                <a:alphaModFix amt="0"/>
              </a:blip>
              <a:stretch>
                <a:fillRect t="-103100" r="55048" b="-80845"/>
              </a:stretch>
            </a:blipFill>
          </p:spPr>
        </p:sp>
        <p:sp>
          <p:nvSpPr>
            <p:cNvPr id="5" name="TextBox 5"/>
            <p:cNvSpPr txBox="1"/>
            <p:nvPr/>
          </p:nvSpPr>
          <p:spPr>
            <a:xfrm>
              <a:off x="0" y="57150"/>
              <a:ext cx="24384000" cy="1447210"/>
            </a:xfrm>
            <a:prstGeom prst="rect">
              <a:avLst/>
            </a:prstGeom>
          </p:spPr>
          <p:txBody>
            <a:bodyPr lIns="0" tIns="0" rIns="0" bIns="0" rtlCol="0" anchor="ctr"/>
            <a:lstStyle/>
            <a:p>
              <a:pPr marL="0" lvl="0" indent="0" algn="ctr">
                <a:lnSpc>
                  <a:spcPts val="6048"/>
                </a:lnSpc>
                <a:spcBef>
                  <a:spcPct val="0"/>
                </a:spcBef>
              </a:pPr>
              <a:r>
                <a:rPr lang="en-US" sz="5600" b="1" spc="-34">
                  <a:solidFill>
                    <a:srgbClr val="FF0000"/>
                  </a:solidFill>
                  <a:latin typeface="TT Rounds Condensed Bold"/>
                  <a:ea typeface="TT Rounds Condensed Bold"/>
                  <a:cs typeface="TT Rounds Condensed Bold"/>
                  <a:sym typeface="TT Rounds Condensed Bold"/>
                </a:rPr>
                <a:t>M</a:t>
              </a:r>
              <a:r>
                <a:rPr lang="en-US" sz="5600" b="1" u="none" strike="noStrike" spc="-34">
                  <a:solidFill>
                    <a:srgbClr val="FF0000"/>
                  </a:solidFill>
                  <a:latin typeface="TT Rounds Condensed Bold"/>
                  <a:ea typeface="TT Rounds Condensed Bold"/>
                  <a:cs typeface="TT Rounds Condensed Bold"/>
                  <a:sym typeface="TT Rounds Condensed Bold"/>
                </a:rPr>
                <a:t>L-Based Threat Detection</a:t>
              </a:r>
            </a:p>
          </p:txBody>
        </p:sp>
      </p:grpSp>
      <p:sp>
        <p:nvSpPr>
          <p:cNvPr id="6" name="Freeform 6"/>
          <p:cNvSpPr/>
          <p:nvPr/>
        </p:nvSpPr>
        <p:spPr>
          <a:xfrm>
            <a:off x="7320596" y="2593731"/>
            <a:ext cx="9564213" cy="4208254"/>
          </a:xfrm>
          <a:custGeom>
            <a:avLst/>
            <a:gdLst/>
            <a:ahLst/>
            <a:cxnLst/>
            <a:rect l="l" t="t" r="r" b="b"/>
            <a:pathLst>
              <a:path w="9564213" h="4208254">
                <a:moveTo>
                  <a:pt x="0" y="0"/>
                </a:moveTo>
                <a:lnTo>
                  <a:pt x="9564213" y="0"/>
                </a:lnTo>
                <a:lnTo>
                  <a:pt x="9564213" y="4208253"/>
                </a:lnTo>
                <a:lnTo>
                  <a:pt x="0" y="4208253"/>
                </a:lnTo>
                <a:lnTo>
                  <a:pt x="0" y="0"/>
                </a:lnTo>
                <a:close/>
              </a:path>
            </a:pathLst>
          </a:custGeom>
          <a:blipFill>
            <a:blip r:embed="rId4"/>
            <a:stretch>
              <a:fillRect/>
            </a:stretch>
          </a:blipFill>
        </p:spPr>
      </p:sp>
      <p:sp>
        <p:nvSpPr>
          <p:cNvPr id="7" name="Freeform 7"/>
          <p:cNvSpPr/>
          <p:nvPr/>
        </p:nvSpPr>
        <p:spPr>
          <a:xfrm>
            <a:off x="7263280" y="7020628"/>
            <a:ext cx="9621529" cy="1313771"/>
          </a:xfrm>
          <a:custGeom>
            <a:avLst/>
            <a:gdLst/>
            <a:ahLst/>
            <a:cxnLst/>
            <a:rect l="l" t="t" r="r" b="b"/>
            <a:pathLst>
              <a:path w="9621529" h="1313771">
                <a:moveTo>
                  <a:pt x="0" y="0"/>
                </a:moveTo>
                <a:lnTo>
                  <a:pt x="9621529" y="0"/>
                </a:lnTo>
                <a:lnTo>
                  <a:pt x="9621529" y="1313771"/>
                </a:lnTo>
                <a:lnTo>
                  <a:pt x="0" y="1313771"/>
                </a:lnTo>
                <a:lnTo>
                  <a:pt x="0" y="0"/>
                </a:lnTo>
                <a:close/>
              </a:path>
            </a:pathLst>
          </a:custGeom>
          <a:blipFill>
            <a:blip r:embed="rId5"/>
            <a:stretch>
              <a:fillRect r="-17458"/>
            </a:stretch>
          </a:blipFill>
        </p:spPr>
      </p:sp>
      <p:sp>
        <p:nvSpPr>
          <p:cNvPr id="8" name="TextBox 8"/>
          <p:cNvSpPr txBox="1"/>
          <p:nvPr/>
        </p:nvSpPr>
        <p:spPr>
          <a:xfrm>
            <a:off x="2025146" y="2641356"/>
            <a:ext cx="5113762" cy="3815716"/>
          </a:xfrm>
          <a:prstGeom prst="rect">
            <a:avLst/>
          </a:prstGeom>
        </p:spPr>
        <p:txBody>
          <a:bodyPr lIns="0" tIns="0" rIns="0" bIns="0" rtlCol="0" anchor="t">
            <a:spAutoFit/>
          </a:bodyPr>
          <a:lstStyle/>
          <a:p>
            <a:pPr algn="l">
              <a:lnSpc>
                <a:spcPts val="3780"/>
              </a:lnSpc>
              <a:spcBef>
                <a:spcPct val="0"/>
              </a:spcBef>
            </a:pPr>
            <a:r>
              <a:rPr lang="en-US" sz="3500" spc="-21">
                <a:solidFill>
                  <a:srgbClr val="000000"/>
                </a:solidFill>
                <a:latin typeface="Atkinson Hyperlegible"/>
                <a:ea typeface="Atkinson Hyperlegible"/>
                <a:cs typeface="Atkinson Hyperlegible"/>
                <a:sym typeface="Atkinson Hyperlegible"/>
              </a:rPr>
              <a:t>Multiple </a:t>
            </a:r>
            <a:r>
              <a:rPr lang="en-US" sz="3500" strike="noStrike" spc="-21">
                <a:solidFill>
                  <a:srgbClr val="000000"/>
                </a:solidFill>
                <a:latin typeface="Atkinson Hyperlegible"/>
                <a:ea typeface="Atkinson Hyperlegible"/>
                <a:cs typeface="Atkinson Hyperlegible"/>
                <a:sym typeface="Atkinson Hyperlegible"/>
              </a:rPr>
              <a:t>models used:</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Logistic Reg</a:t>
            </a:r>
            <a:r>
              <a:rPr lang="en-US" sz="3500" u="none" strike="noStrike" spc="-21">
                <a:solidFill>
                  <a:srgbClr val="000000"/>
                </a:solidFill>
                <a:latin typeface="Atkinson Hyperlegible"/>
                <a:ea typeface="Atkinson Hyperlegible"/>
                <a:cs typeface="Atkinson Hyperlegible"/>
                <a:sym typeface="Atkinson Hyperlegible"/>
              </a:rPr>
              <a:t>res</a:t>
            </a:r>
            <a:r>
              <a:rPr lang="en-US" sz="3500" strike="noStrike" spc="-21">
                <a:solidFill>
                  <a:srgbClr val="000000"/>
                </a:solidFill>
                <a:latin typeface="Atkinson Hyperlegible"/>
                <a:ea typeface="Atkinson Hyperlegible"/>
                <a:cs typeface="Atkinson Hyperlegible"/>
                <a:sym typeface="Atkinson Hyperlegible"/>
              </a:rPr>
              <a:t>sion</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Decision Tree</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Random Forest</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Gradient Boosting</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Neural Network</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XGBoost</a:t>
            </a:r>
          </a:p>
          <a:p>
            <a:pPr marL="755667" lvl="1" indent="-377833" algn="l">
              <a:lnSpc>
                <a:spcPts val="3780"/>
              </a:lnSpc>
              <a:spcBef>
                <a:spcPct val="0"/>
              </a:spcBef>
              <a:buFont typeface="Arial"/>
              <a:buChar char="•"/>
            </a:pPr>
            <a:r>
              <a:rPr lang="en-US" sz="3500" strike="noStrike" spc="-21">
                <a:solidFill>
                  <a:srgbClr val="000000"/>
                </a:solidFill>
                <a:latin typeface="Atkinson Hyperlegible"/>
                <a:ea typeface="Atkinson Hyperlegible"/>
                <a:cs typeface="Atkinson Hyperlegible"/>
                <a:sym typeface="Atkinson Hyperlegible"/>
              </a:rPr>
              <a:t>LightGBM</a:t>
            </a:r>
          </a:p>
        </p:txBody>
      </p:sp>
      <p:sp>
        <p:nvSpPr>
          <p:cNvPr id="9" name="AutoShape 9"/>
          <p:cNvSpPr/>
          <p:nvPr/>
        </p:nvSpPr>
        <p:spPr>
          <a:xfrm flipV="1">
            <a:off x="6862269" y="2593731"/>
            <a:ext cx="0" cy="6664569"/>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890270"/>
            <a:chOff x="0" y="0"/>
            <a:chExt cx="24384000" cy="2520360"/>
          </a:xfrm>
        </p:grpSpPr>
        <p:sp>
          <p:nvSpPr>
            <p:cNvPr id="4" name="Freeform 4"/>
            <p:cNvSpPr/>
            <p:nvPr/>
          </p:nvSpPr>
          <p:spPr>
            <a:xfrm>
              <a:off x="0" y="0"/>
              <a:ext cx="24384000" cy="2520347"/>
            </a:xfrm>
            <a:custGeom>
              <a:avLst/>
              <a:gdLst/>
              <a:ahLst/>
              <a:cxnLst/>
              <a:rect l="l" t="t" r="r" b="b"/>
              <a:pathLst>
                <a:path w="24384000" h="2520347">
                  <a:moveTo>
                    <a:pt x="0" y="0"/>
                  </a:moveTo>
                  <a:lnTo>
                    <a:pt x="24384000" y="0"/>
                  </a:lnTo>
                  <a:lnTo>
                    <a:pt x="24384000" y="2520347"/>
                  </a:lnTo>
                  <a:lnTo>
                    <a:pt x="0" y="2520347"/>
                  </a:lnTo>
                  <a:close/>
                </a:path>
              </a:pathLst>
            </a:custGeom>
            <a:blipFill>
              <a:blip r:embed="rId3">
                <a:alphaModFix amt="0"/>
              </a:blip>
              <a:stretch>
                <a:fillRect t="-61538" r="55048" b="-7943"/>
              </a:stretch>
            </a:blipFill>
          </p:spPr>
        </p:sp>
        <p:sp>
          <p:nvSpPr>
            <p:cNvPr id="5" name="TextBox 5"/>
            <p:cNvSpPr txBox="1"/>
            <p:nvPr/>
          </p:nvSpPr>
          <p:spPr>
            <a:xfrm>
              <a:off x="0" y="57150"/>
              <a:ext cx="24384000" cy="2463210"/>
            </a:xfrm>
            <a:prstGeom prst="rect">
              <a:avLst/>
            </a:prstGeom>
          </p:spPr>
          <p:txBody>
            <a:bodyPr lIns="0" tIns="0" rIns="0" bIns="0" rtlCol="0" anchor="ctr"/>
            <a:lstStyle/>
            <a:p>
              <a:pPr marL="0" lvl="0" indent="0" algn="ctr">
                <a:lnSpc>
                  <a:spcPts val="6048"/>
                </a:lnSpc>
                <a:spcBef>
                  <a:spcPct val="0"/>
                </a:spcBef>
              </a:pPr>
              <a:r>
                <a:rPr lang="en-US" sz="5600" b="1" spc="-33">
                  <a:solidFill>
                    <a:srgbClr val="FF0000"/>
                  </a:solidFill>
                  <a:latin typeface="TT Rounds Condensed Bold"/>
                  <a:ea typeface="TT Rounds Condensed Bold"/>
                  <a:cs typeface="TT Rounds Condensed Bold"/>
                  <a:sym typeface="TT Rounds Condensed Bold"/>
                </a:rPr>
                <a:t>Re</a:t>
              </a:r>
              <a:r>
                <a:rPr lang="en-US" sz="5600" b="1" u="none" strike="noStrike" spc="-33">
                  <a:solidFill>
                    <a:srgbClr val="FF0000"/>
                  </a:solidFill>
                  <a:latin typeface="TT Rounds Condensed Bold"/>
                  <a:ea typeface="TT Rounds Condensed Bold"/>
                  <a:cs typeface="TT Rounds Condensed Bold"/>
                  <a:sym typeface="TT Rounds Condensed Bold"/>
                </a:rPr>
                <a:t>al-Time Threat Monitoring </a:t>
              </a:r>
            </a:p>
            <a:p>
              <a:pPr marL="0" lvl="0" indent="0" algn="ctr">
                <a:lnSpc>
                  <a:spcPts val="6048"/>
                </a:lnSpc>
                <a:spcBef>
                  <a:spcPct val="0"/>
                </a:spcBef>
              </a:pPr>
              <a:r>
                <a:rPr lang="en-US" sz="5600" b="1" u="none" strike="noStrike" spc="-34">
                  <a:solidFill>
                    <a:srgbClr val="FF0000"/>
                  </a:solidFill>
                  <a:latin typeface="TT Rounds Condensed Bold"/>
                  <a:ea typeface="TT Rounds Condensed Bold"/>
                  <a:cs typeface="TT Rounds Condensed Bold"/>
                  <a:sym typeface="TT Rounds Condensed Bold"/>
                </a:rPr>
                <a:t>&amp; Defense Simulation</a:t>
              </a:r>
            </a:p>
          </p:txBody>
        </p:sp>
      </p:grpSp>
      <p:sp>
        <p:nvSpPr>
          <p:cNvPr id="6" name="TextBox 6"/>
          <p:cNvSpPr txBox="1"/>
          <p:nvPr/>
        </p:nvSpPr>
        <p:spPr>
          <a:xfrm>
            <a:off x="419954" y="2799345"/>
            <a:ext cx="9839547" cy="7127476"/>
          </a:xfrm>
          <a:prstGeom prst="rect">
            <a:avLst/>
          </a:prstGeom>
        </p:spPr>
        <p:txBody>
          <a:bodyPr lIns="0" tIns="0" rIns="0" bIns="0" rtlCol="0" anchor="t">
            <a:spAutoFit/>
          </a:bodyPr>
          <a:lstStyle/>
          <a:p>
            <a:pPr algn="l">
              <a:lnSpc>
                <a:spcPts val="3529"/>
              </a:lnSpc>
            </a:pPr>
            <a:r>
              <a:rPr lang="en-US" sz="3268" b="1" i="1" u="sng" spc="-19">
                <a:solidFill>
                  <a:srgbClr val="000000"/>
                </a:solidFill>
                <a:latin typeface="Atkinson Hyperlegible Bold Italics"/>
                <a:ea typeface="Atkinson Hyperlegible Bold Italics"/>
                <a:cs typeface="Atkinson Hyperlegible Bold Italics"/>
                <a:sym typeface="Atkinson Hyperlegible Bold Italics"/>
              </a:rPr>
              <a:t>Functional Components</a:t>
            </a:r>
          </a:p>
          <a:p>
            <a:pPr algn="l">
              <a:lnSpc>
                <a:spcPts val="3529"/>
              </a:lnSpc>
            </a:pPr>
            <a:r>
              <a:rPr lang="en-US" sz="3268" spc="-19">
                <a:solidFill>
                  <a:srgbClr val="000000"/>
                </a:solidFill>
                <a:latin typeface="Atkinson Hyperlegible"/>
                <a:ea typeface="Atkinson Hyperlegible"/>
                <a:cs typeface="Atkinson Hyperlegible"/>
                <a:sym typeface="Atkinson Hyperlegible"/>
              </a:rPr>
              <a:t>1. Live Defense Simulation</a:t>
            </a:r>
          </a:p>
          <a:p>
            <a:pPr marL="705662" lvl="1" indent="-352831" algn="l">
              <a:lnSpc>
                <a:spcPts val="3529"/>
              </a:lnSpc>
              <a:spcBef>
                <a:spcPct val="0"/>
              </a:spcBef>
              <a:buFont typeface="Arial"/>
              <a:buChar char="•"/>
            </a:pPr>
            <a:r>
              <a:rPr lang="en-US" sz="3268" spc="-19">
                <a:solidFill>
                  <a:srgbClr val="000000"/>
                </a:solidFill>
                <a:latin typeface="Atkinson Hyperlegible"/>
                <a:ea typeface="Atkinson Hyperlegible"/>
                <a:cs typeface="Atkinson Hyperlegible"/>
                <a:sym typeface="Atkinson Hyperlegible"/>
              </a:rPr>
              <a:t>Simulates real-ti</a:t>
            </a:r>
            <a:r>
              <a:rPr lang="en-US" sz="3268" strike="noStrike" spc="-19">
                <a:solidFill>
                  <a:srgbClr val="000000"/>
                </a:solidFill>
                <a:latin typeface="Atkinson Hyperlegible"/>
                <a:ea typeface="Atkinson Hyperlegible"/>
                <a:cs typeface="Atkinson Hyperlegible"/>
                <a:sym typeface="Atkinson Hyperlegible"/>
              </a:rPr>
              <a:t>me packet flow within a 5G network</a:t>
            </a:r>
          </a:p>
          <a:p>
            <a:pPr marL="705662" lvl="1" indent="-352831"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Continuously scans and classifies incoming traffic</a:t>
            </a:r>
          </a:p>
          <a:p>
            <a:pPr algn="l">
              <a:lnSpc>
                <a:spcPts val="3529"/>
              </a:lnSpc>
              <a:spcBef>
                <a:spcPct val="0"/>
              </a:spcBef>
            </a:pPr>
            <a:r>
              <a:rPr lang="en-US" sz="3268" strike="noStrike" spc="-19">
                <a:solidFill>
                  <a:srgbClr val="000000"/>
                </a:solidFill>
                <a:latin typeface="Atkinson Hyperlegible"/>
                <a:ea typeface="Atkinson Hyperlegible"/>
                <a:cs typeface="Atkinson Hyperlegible"/>
                <a:sym typeface="Atkinson Hyperlegible"/>
              </a:rPr>
              <a:t>2. Machine Learning Mod</a:t>
            </a:r>
            <a:r>
              <a:rPr lang="en-US" sz="3268" u="none" strike="noStrike" spc="-19">
                <a:solidFill>
                  <a:srgbClr val="000000"/>
                </a:solidFill>
                <a:latin typeface="Atkinson Hyperlegible"/>
                <a:ea typeface="Atkinson Hyperlegible"/>
                <a:cs typeface="Atkinson Hyperlegible"/>
                <a:sym typeface="Atkinson Hyperlegible"/>
              </a:rPr>
              <a:t>el Integrat</a:t>
            </a:r>
            <a:r>
              <a:rPr lang="en-US" sz="3268" strike="noStrike" spc="-19">
                <a:solidFill>
                  <a:srgbClr val="000000"/>
                </a:solidFill>
                <a:latin typeface="Atkinson Hyperlegible"/>
                <a:ea typeface="Atkinson Hyperlegible"/>
                <a:cs typeface="Atkinson Hyperlegible"/>
                <a:sym typeface="Atkinson Hyperlegible"/>
              </a:rPr>
              <a:t>ion</a:t>
            </a:r>
          </a:p>
          <a:p>
            <a:pPr marL="705662" lvl="1" indent="-352831"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Detection powered by Gradient Boosting</a:t>
            </a:r>
          </a:p>
          <a:p>
            <a:pPr marL="705662" lvl="1" indent="-352831"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Provides fast and interpretable predictions</a:t>
            </a:r>
          </a:p>
          <a:p>
            <a:pPr marL="705662" lvl="1" indent="-352831"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Achieves:</a:t>
            </a:r>
          </a:p>
          <a:p>
            <a:pPr marL="1411325" lvl="2" indent="-470442"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Accuracy: 95.69%</a:t>
            </a:r>
          </a:p>
          <a:p>
            <a:pPr marL="1411325" lvl="2" indent="-470442"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F1-Score: 0.9571</a:t>
            </a:r>
          </a:p>
          <a:p>
            <a:pPr algn="l">
              <a:lnSpc>
                <a:spcPts val="3529"/>
              </a:lnSpc>
              <a:spcBef>
                <a:spcPct val="0"/>
              </a:spcBef>
            </a:pPr>
            <a:r>
              <a:rPr lang="en-US" sz="3268" strike="noStrike" spc="-19">
                <a:solidFill>
                  <a:srgbClr val="000000"/>
                </a:solidFill>
                <a:latin typeface="Atkinson Hyperlegible"/>
                <a:ea typeface="Atkinson Hyperlegible"/>
                <a:cs typeface="Atkinson Hyperlegible"/>
                <a:sym typeface="Atkinson Hyperlegible"/>
              </a:rPr>
              <a:t>3. Packet Inspection Module</a:t>
            </a:r>
          </a:p>
          <a:p>
            <a:pPr marL="705662" lvl="1" indent="-352831"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Displays packet-level details including:</a:t>
            </a:r>
          </a:p>
          <a:p>
            <a:pPr marL="1411325" lvl="2" indent="-470442"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Traffic type (Benign / Malicious)</a:t>
            </a:r>
          </a:p>
          <a:p>
            <a:pPr marL="1411325" lvl="2" indent="-470442"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Prediction confidence score</a:t>
            </a:r>
          </a:p>
          <a:p>
            <a:pPr marL="1411325" lvl="2" indent="-470442" algn="l">
              <a:lnSpc>
                <a:spcPts val="3529"/>
              </a:lnSpc>
              <a:spcBef>
                <a:spcPct val="0"/>
              </a:spcBef>
              <a:buFont typeface="Arial"/>
              <a:buChar char="⚬"/>
            </a:pPr>
            <a:r>
              <a:rPr lang="en-US" sz="3268" strike="noStrike" spc="-19">
                <a:solidFill>
                  <a:srgbClr val="000000"/>
                </a:solidFill>
                <a:latin typeface="Atkinson Hyperlegible"/>
                <a:ea typeface="Atkinson Hyperlegible"/>
                <a:cs typeface="Atkinson Hyperlegible"/>
                <a:sym typeface="Atkinson Hyperlegible"/>
              </a:rPr>
              <a:t>System action taken</a:t>
            </a:r>
          </a:p>
        </p:txBody>
      </p:sp>
      <p:sp>
        <p:nvSpPr>
          <p:cNvPr id="7" name="TextBox 7"/>
          <p:cNvSpPr txBox="1"/>
          <p:nvPr/>
        </p:nvSpPr>
        <p:spPr>
          <a:xfrm>
            <a:off x="10591341" y="2799345"/>
            <a:ext cx="6848615" cy="4488461"/>
          </a:xfrm>
          <a:prstGeom prst="rect">
            <a:avLst/>
          </a:prstGeom>
        </p:spPr>
        <p:txBody>
          <a:bodyPr lIns="0" tIns="0" rIns="0" bIns="0" rtlCol="0" anchor="t">
            <a:spAutoFit/>
          </a:bodyPr>
          <a:lstStyle/>
          <a:p>
            <a:pPr algn="l">
              <a:lnSpc>
                <a:spcPts val="3529"/>
              </a:lnSpc>
            </a:pPr>
            <a:r>
              <a:rPr lang="en-US" sz="3268" b="1" i="1" u="sng" strike="noStrike" spc="-19">
                <a:solidFill>
                  <a:srgbClr val="000000"/>
                </a:solidFill>
                <a:latin typeface="Atkinson Hyperlegible Bold Italics"/>
                <a:ea typeface="Atkinson Hyperlegible Bold Italics"/>
                <a:cs typeface="Atkinson Hyperlegible Bold Italics"/>
                <a:sym typeface="Atkinson Hyperlegible Bold Italics"/>
              </a:rPr>
              <a:t>Automated Defense Mechanism</a:t>
            </a:r>
          </a:p>
          <a:p>
            <a:pPr marL="705663" lvl="1" indent="-352831" algn="l">
              <a:lnSpc>
                <a:spcPts val="3529"/>
              </a:lnSpc>
              <a:buFont typeface="Arial"/>
              <a:buChar char="•"/>
            </a:pPr>
            <a:r>
              <a:rPr lang="en-US" sz="3268" u="none" strike="noStrike" spc="-19">
                <a:solidFill>
                  <a:srgbClr val="000000"/>
                </a:solidFill>
                <a:latin typeface="Atkinson Hyperlegible"/>
                <a:ea typeface="Atkinson Hyperlegible"/>
                <a:cs typeface="Atkinson Hyperlegible"/>
                <a:sym typeface="Atkinson Hyperlegible"/>
              </a:rPr>
              <a:t>Block Action: Triggered when confidence ≥ 95%</a:t>
            </a:r>
          </a:p>
          <a:p>
            <a:pPr marL="705663" lvl="1" indent="-352831" algn="l">
              <a:lnSpc>
                <a:spcPts val="3529"/>
              </a:lnSpc>
              <a:buFont typeface="Arial"/>
              <a:buChar char="•"/>
            </a:pPr>
            <a:r>
              <a:rPr lang="en-US" sz="3268" u="none" strike="noStrike" spc="-19">
                <a:solidFill>
                  <a:srgbClr val="000000"/>
                </a:solidFill>
                <a:latin typeface="Atkinson Hyperlegible"/>
                <a:ea typeface="Atkinson Hyperlegible"/>
                <a:cs typeface="Atkinson Hyperlegible"/>
                <a:sym typeface="Atkinson Hyperlegible"/>
              </a:rPr>
              <a:t>Rate Limiting: Applied when confidence ≥ 85%</a:t>
            </a:r>
          </a:p>
          <a:p>
            <a:pPr marL="705663" lvl="1" indent="-352831" algn="l">
              <a:lnSpc>
                <a:spcPts val="3529"/>
              </a:lnSpc>
              <a:buFont typeface="Arial"/>
              <a:buChar char="•"/>
            </a:pPr>
            <a:r>
              <a:rPr lang="en-US" sz="3268" u="none" strike="noStrike" spc="-19">
                <a:solidFill>
                  <a:srgbClr val="000000"/>
                </a:solidFill>
                <a:latin typeface="Atkinson Hyperlegible"/>
                <a:ea typeface="Atkinson Hyperlegible"/>
                <a:cs typeface="Atkinson Hyperlegible"/>
                <a:sym typeface="Atkinson Hyperlegible"/>
              </a:rPr>
              <a:t>Alert System: Flags suspicious but uncertain traffic</a:t>
            </a:r>
          </a:p>
          <a:p>
            <a:pPr marL="705663" lvl="1" indent="-352831" algn="l">
              <a:lnSpc>
                <a:spcPts val="3529"/>
              </a:lnSpc>
              <a:buFont typeface="Arial"/>
              <a:buChar char="•"/>
            </a:pPr>
            <a:r>
              <a:rPr lang="en-US" sz="3268" u="none" strike="noStrike" spc="-19">
                <a:solidFill>
                  <a:srgbClr val="000000"/>
                </a:solidFill>
                <a:latin typeface="Atkinson Hyperlegible"/>
                <a:ea typeface="Atkinson Hyperlegible"/>
                <a:cs typeface="Atkinson Hyperlegible"/>
                <a:sym typeface="Atkinson Hyperlegible"/>
              </a:rPr>
              <a:t>Ensures low latency response and network stability</a:t>
            </a:r>
          </a:p>
        </p:txBody>
      </p:sp>
      <p:sp>
        <p:nvSpPr>
          <p:cNvPr id="8" name="AutoShape 8"/>
          <p:cNvSpPr/>
          <p:nvPr/>
        </p:nvSpPr>
        <p:spPr>
          <a:xfrm flipV="1">
            <a:off x="10287000" y="2761245"/>
            <a:ext cx="0" cy="6664569"/>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890270"/>
            <a:chOff x="0" y="0"/>
            <a:chExt cx="24384000" cy="2520360"/>
          </a:xfrm>
        </p:grpSpPr>
        <p:sp>
          <p:nvSpPr>
            <p:cNvPr id="4" name="Freeform 4"/>
            <p:cNvSpPr/>
            <p:nvPr/>
          </p:nvSpPr>
          <p:spPr>
            <a:xfrm>
              <a:off x="0" y="0"/>
              <a:ext cx="24384000" cy="2520347"/>
            </a:xfrm>
            <a:custGeom>
              <a:avLst/>
              <a:gdLst/>
              <a:ahLst/>
              <a:cxnLst/>
              <a:rect l="l" t="t" r="r" b="b"/>
              <a:pathLst>
                <a:path w="24384000" h="2520347">
                  <a:moveTo>
                    <a:pt x="0" y="0"/>
                  </a:moveTo>
                  <a:lnTo>
                    <a:pt x="24384000" y="0"/>
                  </a:lnTo>
                  <a:lnTo>
                    <a:pt x="24384000" y="2520347"/>
                  </a:lnTo>
                  <a:lnTo>
                    <a:pt x="0" y="2520347"/>
                  </a:lnTo>
                  <a:close/>
                </a:path>
              </a:pathLst>
            </a:custGeom>
            <a:blipFill>
              <a:blip r:embed="rId3">
                <a:alphaModFix amt="0"/>
              </a:blip>
              <a:stretch>
                <a:fillRect t="-61538" r="55048" b="-7943"/>
              </a:stretch>
            </a:blipFill>
          </p:spPr>
        </p:sp>
        <p:sp>
          <p:nvSpPr>
            <p:cNvPr id="5" name="TextBox 5"/>
            <p:cNvSpPr txBox="1"/>
            <p:nvPr/>
          </p:nvSpPr>
          <p:spPr>
            <a:xfrm>
              <a:off x="0" y="57150"/>
              <a:ext cx="24384000" cy="2463210"/>
            </a:xfrm>
            <a:prstGeom prst="rect">
              <a:avLst/>
            </a:prstGeom>
          </p:spPr>
          <p:txBody>
            <a:bodyPr lIns="0" tIns="0" rIns="0" bIns="0" rtlCol="0" anchor="ctr"/>
            <a:lstStyle/>
            <a:p>
              <a:pPr marL="0" lvl="0" indent="0" algn="ctr">
                <a:lnSpc>
                  <a:spcPts val="6048"/>
                </a:lnSpc>
                <a:spcBef>
                  <a:spcPct val="0"/>
                </a:spcBef>
              </a:pPr>
              <a:r>
                <a:rPr lang="en-US" sz="5600" b="1" spc="-33">
                  <a:solidFill>
                    <a:srgbClr val="FF0000"/>
                  </a:solidFill>
                  <a:latin typeface="TT Rounds Condensed Bold"/>
                  <a:ea typeface="TT Rounds Condensed Bold"/>
                  <a:cs typeface="TT Rounds Condensed Bold"/>
                  <a:sym typeface="TT Rounds Condensed Bold"/>
                </a:rPr>
                <a:t>Re</a:t>
              </a:r>
              <a:r>
                <a:rPr lang="en-US" sz="5600" b="1" u="none" strike="noStrike" spc="-33">
                  <a:solidFill>
                    <a:srgbClr val="FF0000"/>
                  </a:solidFill>
                  <a:latin typeface="TT Rounds Condensed Bold"/>
                  <a:ea typeface="TT Rounds Condensed Bold"/>
                  <a:cs typeface="TT Rounds Condensed Bold"/>
                  <a:sym typeface="TT Rounds Condensed Bold"/>
                </a:rPr>
                <a:t>al-Time Threat Monitoring </a:t>
              </a:r>
            </a:p>
            <a:p>
              <a:pPr marL="0" lvl="0" indent="0" algn="ctr">
                <a:lnSpc>
                  <a:spcPts val="6048"/>
                </a:lnSpc>
                <a:spcBef>
                  <a:spcPct val="0"/>
                </a:spcBef>
              </a:pPr>
              <a:r>
                <a:rPr lang="en-US" sz="5600" b="1" u="none" strike="noStrike" spc="-34">
                  <a:solidFill>
                    <a:srgbClr val="FF0000"/>
                  </a:solidFill>
                  <a:latin typeface="TT Rounds Condensed Bold"/>
                  <a:ea typeface="TT Rounds Condensed Bold"/>
                  <a:cs typeface="TT Rounds Condensed Bold"/>
                  <a:sym typeface="TT Rounds Condensed Bold"/>
                </a:rPr>
                <a:t>&amp; Defense Simulation</a:t>
              </a:r>
            </a:p>
          </p:txBody>
        </p:sp>
      </p:grpSp>
      <p:sp>
        <p:nvSpPr>
          <p:cNvPr id="6" name="TextBox 6"/>
          <p:cNvSpPr txBox="1"/>
          <p:nvPr/>
        </p:nvSpPr>
        <p:spPr>
          <a:xfrm>
            <a:off x="409265" y="2932082"/>
            <a:ext cx="11249502" cy="2250568"/>
          </a:xfrm>
          <a:prstGeom prst="rect">
            <a:avLst/>
          </a:prstGeom>
        </p:spPr>
        <p:txBody>
          <a:bodyPr lIns="0" tIns="0" rIns="0" bIns="0" rtlCol="0" anchor="t">
            <a:spAutoFit/>
          </a:bodyPr>
          <a:lstStyle/>
          <a:p>
            <a:pPr algn="just">
              <a:lnSpc>
                <a:spcPts val="3564"/>
              </a:lnSpc>
              <a:spcBef>
                <a:spcPct val="0"/>
              </a:spcBef>
            </a:pPr>
            <a:r>
              <a:rPr lang="en-US" sz="3300" spc="-19">
                <a:solidFill>
                  <a:srgbClr val="000000"/>
                </a:solidFill>
                <a:latin typeface="Atkinson Hyperlegible"/>
                <a:ea typeface="Atkinson Hyperlegible"/>
                <a:cs typeface="Atkinson Hyperlegible"/>
                <a:sym typeface="Atkinson Hyperlegible"/>
              </a:rPr>
              <a:t>The interface represents the Packet Inspection and Live Defense Monitoring module of the 5G DDoS Detection System. It combines real-time traffic analysis with machine learning-based threat detection to ensure proactive network security.</a:t>
            </a:r>
          </a:p>
        </p:txBody>
      </p:sp>
      <p:sp>
        <p:nvSpPr>
          <p:cNvPr id="7" name="TextBox 7"/>
          <p:cNvSpPr txBox="1"/>
          <p:nvPr/>
        </p:nvSpPr>
        <p:spPr>
          <a:xfrm>
            <a:off x="409265" y="5349768"/>
            <a:ext cx="11249502" cy="4041268"/>
          </a:xfrm>
          <a:prstGeom prst="rect">
            <a:avLst/>
          </a:prstGeom>
        </p:spPr>
        <p:txBody>
          <a:bodyPr lIns="0" tIns="0" rIns="0" bIns="0" rtlCol="0" anchor="t">
            <a:spAutoFit/>
          </a:bodyPr>
          <a:lstStyle/>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Packet Inspection Module</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Utilizes Gradient Boosting for high-performance classification</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Performs auto-sampling of network packets for analysis</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Displays detailed packet-level information:</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True Label vs Predicted Label</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Confidence Score (~99%)</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Detection Status (Correct/Incorrect)</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Action Taken (Blocked / Allowed)</a:t>
            </a:r>
          </a:p>
          <a:p>
            <a:pPr marL="0" lvl="0" indent="0" algn="just">
              <a:lnSpc>
                <a:spcPts val="3564"/>
              </a:lnSpc>
              <a:spcBef>
                <a:spcPct val="0"/>
              </a:spcBef>
            </a:pPr>
            <a:endParaRPr lang="en-US" sz="3300" u="none" strike="noStrike" spc="-19">
              <a:solidFill>
                <a:srgbClr val="000000"/>
              </a:solidFill>
              <a:latin typeface="Atkinson Hyperlegible"/>
              <a:ea typeface="Atkinson Hyperlegible"/>
              <a:cs typeface="Atkinson Hyperlegible"/>
              <a:sym typeface="Atkinson Hyperlegible"/>
            </a:endParaRPr>
          </a:p>
        </p:txBody>
      </p:sp>
      <p:sp>
        <p:nvSpPr>
          <p:cNvPr id="8" name="TextBox 8"/>
          <p:cNvSpPr txBox="1"/>
          <p:nvPr/>
        </p:nvSpPr>
        <p:spPr>
          <a:xfrm>
            <a:off x="12418778" y="2932082"/>
            <a:ext cx="5194114" cy="5384293"/>
          </a:xfrm>
          <a:prstGeom prst="rect">
            <a:avLst/>
          </a:prstGeom>
        </p:spPr>
        <p:txBody>
          <a:bodyPr lIns="0" tIns="0" rIns="0" bIns="0" rtlCol="0" anchor="t">
            <a:spAutoFit/>
          </a:bodyPr>
          <a:lstStyle/>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Live Defense Simulation</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Simulates real-time network traffic flow and response.</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Uses trained ML model to classify packets instantly</a:t>
            </a:r>
          </a:p>
          <a:p>
            <a:pPr marL="0" lvl="0" indent="0" algn="just">
              <a:lnSpc>
                <a:spcPts val="3564"/>
              </a:lnSpc>
              <a:spcBef>
                <a:spcPct val="0"/>
              </a:spcBef>
            </a:pPr>
            <a:endParaRPr lang="en-US" sz="3300" u="none" strike="noStrike" spc="-19">
              <a:solidFill>
                <a:srgbClr val="000000"/>
              </a:solidFill>
              <a:latin typeface="Atkinson Hyperlegible"/>
              <a:ea typeface="Atkinson Hyperlegible"/>
              <a:cs typeface="Atkinson Hyperlegible"/>
              <a:sym typeface="Atkinson Hyperlegible"/>
            </a:endParaRPr>
          </a:p>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Performance Metrics:</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F1-Score: 0.9577</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Accuracy: 95.79%</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Packets Scanned: 28 / 300</a:t>
            </a:r>
          </a:p>
        </p:txBody>
      </p:sp>
      <p:sp>
        <p:nvSpPr>
          <p:cNvPr id="9" name="AutoShape 9"/>
          <p:cNvSpPr/>
          <p:nvPr/>
        </p:nvSpPr>
        <p:spPr>
          <a:xfrm flipV="1">
            <a:off x="12037778" y="2893982"/>
            <a:ext cx="0" cy="6364318"/>
          </a:xfrm>
          <a:prstGeom prst="line">
            <a:avLst/>
          </a:prstGeom>
          <a:ln w="38100" cap="flat">
            <a:solidFill>
              <a:srgbClr val="000000"/>
            </a:solidFill>
            <a:prstDash val="solid"/>
            <a:headEnd type="none" w="sm" len="sm"/>
            <a:tailEnd type="none" w="sm" len="sm"/>
          </a:ln>
        </p:spPr>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890270"/>
            <a:chOff x="0" y="0"/>
            <a:chExt cx="24384000" cy="2520360"/>
          </a:xfrm>
        </p:grpSpPr>
        <p:sp>
          <p:nvSpPr>
            <p:cNvPr id="4" name="Freeform 4"/>
            <p:cNvSpPr/>
            <p:nvPr/>
          </p:nvSpPr>
          <p:spPr>
            <a:xfrm>
              <a:off x="0" y="0"/>
              <a:ext cx="24384000" cy="2520347"/>
            </a:xfrm>
            <a:custGeom>
              <a:avLst/>
              <a:gdLst/>
              <a:ahLst/>
              <a:cxnLst/>
              <a:rect l="l" t="t" r="r" b="b"/>
              <a:pathLst>
                <a:path w="24384000" h="2520347">
                  <a:moveTo>
                    <a:pt x="0" y="0"/>
                  </a:moveTo>
                  <a:lnTo>
                    <a:pt x="24384000" y="0"/>
                  </a:lnTo>
                  <a:lnTo>
                    <a:pt x="24384000" y="2520347"/>
                  </a:lnTo>
                  <a:lnTo>
                    <a:pt x="0" y="2520347"/>
                  </a:lnTo>
                  <a:close/>
                </a:path>
              </a:pathLst>
            </a:custGeom>
            <a:blipFill>
              <a:blip r:embed="rId3">
                <a:alphaModFix amt="0"/>
              </a:blip>
              <a:stretch>
                <a:fillRect t="-61538" r="55048" b="-7943"/>
              </a:stretch>
            </a:blipFill>
          </p:spPr>
        </p:sp>
        <p:sp>
          <p:nvSpPr>
            <p:cNvPr id="5" name="TextBox 5"/>
            <p:cNvSpPr txBox="1"/>
            <p:nvPr/>
          </p:nvSpPr>
          <p:spPr>
            <a:xfrm>
              <a:off x="0" y="57150"/>
              <a:ext cx="24384000" cy="2463210"/>
            </a:xfrm>
            <a:prstGeom prst="rect">
              <a:avLst/>
            </a:prstGeom>
          </p:spPr>
          <p:txBody>
            <a:bodyPr lIns="0" tIns="0" rIns="0" bIns="0" rtlCol="0" anchor="ctr"/>
            <a:lstStyle/>
            <a:p>
              <a:pPr marL="0" lvl="0" indent="0" algn="ctr">
                <a:lnSpc>
                  <a:spcPts val="6048"/>
                </a:lnSpc>
                <a:spcBef>
                  <a:spcPct val="0"/>
                </a:spcBef>
              </a:pPr>
              <a:r>
                <a:rPr lang="en-US" sz="5600" b="1" spc="-33">
                  <a:solidFill>
                    <a:srgbClr val="FF0000"/>
                  </a:solidFill>
                  <a:latin typeface="TT Rounds Condensed Bold"/>
                  <a:ea typeface="TT Rounds Condensed Bold"/>
                  <a:cs typeface="TT Rounds Condensed Bold"/>
                  <a:sym typeface="TT Rounds Condensed Bold"/>
                </a:rPr>
                <a:t>Re</a:t>
              </a:r>
              <a:r>
                <a:rPr lang="en-US" sz="5600" b="1" u="none" strike="noStrike" spc="-33">
                  <a:solidFill>
                    <a:srgbClr val="FF0000"/>
                  </a:solidFill>
                  <a:latin typeface="TT Rounds Condensed Bold"/>
                  <a:ea typeface="TT Rounds Condensed Bold"/>
                  <a:cs typeface="TT Rounds Condensed Bold"/>
                  <a:sym typeface="TT Rounds Condensed Bold"/>
                </a:rPr>
                <a:t>al-Time Threat Monitoring </a:t>
              </a:r>
            </a:p>
            <a:p>
              <a:pPr marL="0" lvl="0" indent="0" algn="ctr">
                <a:lnSpc>
                  <a:spcPts val="6048"/>
                </a:lnSpc>
                <a:spcBef>
                  <a:spcPct val="0"/>
                </a:spcBef>
              </a:pPr>
              <a:r>
                <a:rPr lang="en-US" sz="5600" b="1" u="none" strike="noStrike" spc="-34">
                  <a:solidFill>
                    <a:srgbClr val="FF0000"/>
                  </a:solidFill>
                  <a:latin typeface="TT Rounds Condensed Bold"/>
                  <a:ea typeface="TT Rounds Condensed Bold"/>
                  <a:cs typeface="TT Rounds Condensed Bold"/>
                  <a:sym typeface="TT Rounds Condensed Bold"/>
                </a:rPr>
                <a:t>&amp; Defense Simulation</a:t>
              </a:r>
            </a:p>
          </p:txBody>
        </p:sp>
      </p:grpSp>
      <p:sp>
        <p:nvSpPr>
          <p:cNvPr id="6" name="Freeform 6"/>
          <p:cNvSpPr/>
          <p:nvPr/>
        </p:nvSpPr>
        <p:spPr>
          <a:xfrm>
            <a:off x="551053" y="2698536"/>
            <a:ext cx="11301259" cy="4889928"/>
          </a:xfrm>
          <a:custGeom>
            <a:avLst/>
            <a:gdLst/>
            <a:ahLst/>
            <a:cxnLst/>
            <a:rect l="l" t="t" r="r" b="b"/>
            <a:pathLst>
              <a:path w="11301259" h="4889928">
                <a:moveTo>
                  <a:pt x="0" y="0"/>
                </a:moveTo>
                <a:lnTo>
                  <a:pt x="11301259" y="0"/>
                </a:lnTo>
                <a:lnTo>
                  <a:pt x="11301259" y="4889928"/>
                </a:lnTo>
                <a:lnTo>
                  <a:pt x="0" y="4889928"/>
                </a:lnTo>
                <a:lnTo>
                  <a:pt x="0" y="0"/>
                </a:lnTo>
                <a:close/>
              </a:path>
            </a:pathLst>
          </a:custGeom>
          <a:blipFill>
            <a:blip r:embed="rId4"/>
            <a:stretch>
              <a:fillRect b="-12667"/>
            </a:stretch>
          </a:blipFill>
        </p:spPr>
      </p:sp>
      <p:sp>
        <p:nvSpPr>
          <p:cNvPr id="7" name="Freeform 7"/>
          <p:cNvSpPr/>
          <p:nvPr/>
        </p:nvSpPr>
        <p:spPr>
          <a:xfrm>
            <a:off x="6347198" y="7626564"/>
            <a:ext cx="11301259" cy="2419644"/>
          </a:xfrm>
          <a:custGeom>
            <a:avLst/>
            <a:gdLst/>
            <a:ahLst/>
            <a:cxnLst/>
            <a:rect l="l" t="t" r="r" b="b"/>
            <a:pathLst>
              <a:path w="11301259" h="2419644">
                <a:moveTo>
                  <a:pt x="0" y="0"/>
                </a:moveTo>
                <a:lnTo>
                  <a:pt x="11301259" y="0"/>
                </a:lnTo>
                <a:lnTo>
                  <a:pt x="11301259" y="2419644"/>
                </a:lnTo>
                <a:lnTo>
                  <a:pt x="0" y="2419644"/>
                </a:lnTo>
                <a:lnTo>
                  <a:pt x="0" y="0"/>
                </a:lnTo>
                <a:close/>
              </a:path>
            </a:pathLst>
          </a:custGeom>
          <a:blipFill>
            <a:blip r:embed="rId5"/>
            <a:stretch>
              <a:fillRect t="-23771"/>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128270"/>
            <a:chOff x="0" y="0"/>
            <a:chExt cx="24384000" cy="1504360"/>
          </a:xfrm>
        </p:grpSpPr>
        <p:sp>
          <p:nvSpPr>
            <p:cNvPr id="4" name="Freeform 4"/>
            <p:cNvSpPr/>
            <p:nvPr/>
          </p:nvSpPr>
          <p:spPr>
            <a:xfrm>
              <a:off x="0" y="0"/>
              <a:ext cx="24384000" cy="1504352"/>
            </a:xfrm>
            <a:custGeom>
              <a:avLst/>
              <a:gdLst/>
              <a:ahLst/>
              <a:cxnLst/>
              <a:rect l="l" t="t" r="r" b="b"/>
              <a:pathLst>
                <a:path w="24384000" h="1504352">
                  <a:moveTo>
                    <a:pt x="0" y="0"/>
                  </a:moveTo>
                  <a:lnTo>
                    <a:pt x="24384000" y="0"/>
                  </a:lnTo>
                  <a:lnTo>
                    <a:pt x="24384000" y="1504352"/>
                  </a:lnTo>
                  <a:lnTo>
                    <a:pt x="0" y="1504352"/>
                  </a:lnTo>
                  <a:close/>
                </a:path>
              </a:pathLst>
            </a:custGeom>
            <a:blipFill>
              <a:blip r:embed="rId3">
                <a:alphaModFix amt="0"/>
              </a:blip>
              <a:stretch>
                <a:fillRect t="-103100" r="55048" b="-80845"/>
              </a:stretch>
            </a:blipFill>
          </p:spPr>
        </p:sp>
        <p:sp>
          <p:nvSpPr>
            <p:cNvPr id="5" name="TextBox 5"/>
            <p:cNvSpPr txBox="1"/>
            <p:nvPr/>
          </p:nvSpPr>
          <p:spPr>
            <a:xfrm>
              <a:off x="0" y="57150"/>
              <a:ext cx="24384000" cy="1447210"/>
            </a:xfrm>
            <a:prstGeom prst="rect">
              <a:avLst/>
            </a:prstGeom>
          </p:spPr>
          <p:txBody>
            <a:bodyPr lIns="0" tIns="0" rIns="0" bIns="0" rtlCol="0" anchor="ctr"/>
            <a:lstStyle/>
            <a:p>
              <a:pPr marL="0" lvl="0" indent="0" algn="ctr">
                <a:lnSpc>
                  <a:spcPts val="6048"/>
                </a:lnSpc>
                <a:spcBef>
                  <a:spcPct val="0"/>
                </a:spcBef>
              </a:pPr>
              <a:r>
                <a:rPr lang="en-US" sz="5600" b="1" spc="-34">
                  <a:solidFill>
                    <a:srgbClr val="FF0000"/>
                  </a:solidFill>
                  <a:latin typeface="TT Rounds Condensed Bold"/>
                  <a:ea typeface="TT Rounds Condensed Bold"/>
                  <a:cs typeface="TT Rounds Condensed Bold"/>
                  <a:sym typeface="TT Rounds Condensed Bold"/>
                </a:rPr>
                <a:t>C</a:t>
              </a:r>
              <a:r>
                <a:rPr lang="en-US" sz="5600" b="1" u="none" strike="noStrike" spc="-34">
                  <a:solidFill>
                    <a:srgbClr val="FF0000"/>
                  </a:solidFill>
                  <a:latin typeface="TT Rounds Condensed Bold"/>
                  <a:ea typeface="TT Rounds Condensed Bold"/>
                  <a:cs typeface="TT Rounds Condensed Bold"/>
                  <a:sym typeface="TT Rounds Condensed Bold"/>
                </a:rPr>
                <a:t>onclusion</a:t>
              </a:r>
            </a:p>
          </p:txBody>
        </p:sp>
      </p:grpSp>
      <p:sp>
        <p:nvSpPr>
          <p:cNvPr id="6" name="TextBox 6"/>
          <p:cNvSpPr txBox="1"/>
          <p:nvPr/>
        </p:nvSpPr>
        <p:spPr>
          <a:xfrm>
            <a:off x="1573473" y="2233492"/>
            <a:ext cx="15141055" cy="1802893"/>
          </a:xfrm>
          <a:prstGeom prst="rect">
            <a:avLst/>
          </a:prstGeom>
        </p:spPr>
        <p:txBody>
          <a:bodyPr lIns="0" tIns="0" rIns="0" bIns="0" rtlCol="0" anchor="t">
            <a:spAutoFit/>
          </a:bodyPr>
          <a:lstStyle/>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The proposed system successfully demonstrates an intelligent, real-time DDoS detection and mitigation framework tailored for high-speed 5G networks. By integrating machine learning with interactive monitoring, the system addresses the limitations of traditional rule-based security mechanisms.</a:t>
            </a:r>
          </a:p>
        </p:txBody>
      </p:sp>
      <p:sp>
        <p:nvSpPr>
          <p:cNvPr id="7" name="TextBox 7"/>
          <p:cNvSpPr txBox="1"/>
          <p:nvPr/>
        </p:nvSpPr>
        <p:spPr>
          <a:xfrm>
            <a:off x="1573473" y="4274511"/>
            <a:ext cx="15141055" cy="4488943"/>
          </a:xfrm>
          <a:prstGeom prst="rect">
            <a:avLst/>
          </a:prstGeom>
        </p:spPr>
        <p:txBody>
          <a:bodyPr lIns="0" tIns="0" rIns="0" bIns="0" rtlCol="0" anchor="t">
            <a:spAutoFit/>
          </a:bodyPr>
          <a:lstStyle/>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Key Outcomes</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Developed a comprehensive threat monitoring framework with real-time capabilities</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Implemented and evaluated multiple machine learning models for traffic classification</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Achieved high detection accuracy and strong F1-scores, ensuring reliable performance</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Enabled automated response mechanisms, including blocking, rate-limiting, and alert generation</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Delivered an integrated dashboard for enhanced visibility and decision-making</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870976"/>
            <a:ext cx="18288000" cy="1128270"/>
            <a:chOff x="0" y="0"/>
            <a:chExt cx="24384000" cy="1504360"/>
          </a:xfrm>
        </p:grpSpPr>
        <p:sp>
          <p:nvSpPr>
            <p:cNvPr id="4" name="Freeform 4"/>
            <p:cNvSpPr/>
            <p:nvPr/>
          </p:nvSpPr>
          <p:spPr>
            <a:xfrm>
              <a:off x="0" y="0"/>
              <a:ext cx="24384000" cy="1504352"/>
            </a:xfrm>
            <a:custGeom>
              <a:avLst/>
              <a:gdLst/>
              <a:ahLst/>
              <a:cxnLst/>
              <a:rect l="l" t="t" r="r" b="b"/>
              <a:pathLst>
                <a:path w="24384000" h="1504352">
                  <a:moveTo>
                    <a:pt x="0" y="0"/>
                  </a:moveTo>
                  <a:lnTo>
                    <a:pt x="24384000" y="0"/>
                  </a:lnTo>
                  <a:lnTo>
                    <a:pt x="24384000" y="1504352"/>
                  </a:lnTo>
                  <a:lnTo>
                    <a:pt x="0" y="1504352"/>
                  </a:lnTo>
                  <a:close/>
                </a:path>
              </a:pathLst>
            </a:custGeom>
            <a:blipFill>
              <a:blip r:embed="rId3">
                <a:alphaModFix amt="0"/>
              </a:blip>
              <a:stretch>
                <a:fillRect t="-103100" r="55048" b="-80845"/>
              </a:stretch>
            </a:blipFill>
          </p:spPr>
        </p:sp>
        <p:sp>
          <p:nvSpPr>
            <p:cNvPr id="5" name="TextBox 5"/>
            <p:cNvSpPr txBox="1"/>
            <p:nvPr/>
          </p:nvSpPr>
          <p:spPr>
            <a:xfrm>
              <a:off x="0" y="57150"/>
              <a:ext cx="24384000" cy="1447210"/>
            </a:xfrm>
            <a:prstGeom prst="rect">
              <a:avLst/>
            </a:prstGeom>
          </p:spPr>
          <p:txBody>
            <a:bodyPr lIns="0" tIns="0" rIns="0" bIns="0" rtlCol="0" anchor="ctr"/>
            <a:lstStyle/>
            <a:p>
              <a:pPr marL="0" lvl="0" indent="0" algn="ctr">
                <a:lnSpc>
                  <a:spcPts val="6048"/>
                </a:lnSpc>
                <a:spcBef>
                  <a:spcPct val="0"/>
                </a:spcBef>
              </a:pPr>
              <a:r>
                <a:rPr lang="en-US" sz="5600" b="1" spc="-34">
                  <a:solidFill>
                    <a:srgbClr val="FF0000"/>
                  </a:solidFill>
                  <a:latin typeface="TT Rounds Condensed Bold"/>
                  <a:ea typeface="TT Rounds Condensed Bold"/>
                  <a:cs typeface="TT Rounds Condensed Bold"/>
                  <a:sym typeface="TT Rounds Condensed Bold"/>
                </a:rPr>
                <a:t>C</a:t>
              </a:r>
              <a:r>
                <a:rPr lang="en-US" sz="5600" b="1" u="none" strike="noStrike" spc="-34">
                  <a:solidFill>
                    <a:srgbClr val="FF0000"/>
                  </a:solidFill>
                  <a:latin typeface="TT Rounds Condensed Bold"/>
                  <a:ea typeface="TT Rounds Condensed Bold"/>
                  <a:cs typeface="TT Rounds Condensed Bold"/>
                  <a:sym typeface="TT Rounds Condensed Bold"/>
                </a:rPr>
                <a:t>onclusion</a:t>
              </a:r>
            </a:p>
          </p:txBody>
        </p:sp>
      </p:grpSp>
      <p:sp>
        <p:nvSpPr>
          <p:cNvPr id="6" name="TextBox 6"/>
          <p:cNvSpPr txBox="1"/>
          <p:nvPr/>
        </p:nvSpPr>
        <p:spPr>
          <a:xfrm>
            <a:off x="2697163" y="2166363"/>
            <a:ext cx="6446837" cy="5384293"/>
          </a:xfrm>
          <a:prstGeom prst="rect">
            <a:avLst/>
          </a:prstGeom>
        </p:spPr>
        <p:txBody>
          <a:bodyPr lIns="0" tIns="0" rIns="0" bIns="0" rtlCol="0" anchor="t">
            <a:spAutoFit/>
          </a:bodyPr>
          <a:lstStyle/>
          <a:p>
            <a:pPr algn="just">
              <a:lnSpc>
                <a:spcPts val="3564"/>
              </a:lnSpc>
            </a:pPr>
            <a:r>
              <a:rPr lang="en-US" sz="3300" b="1" i="1" u="sng" spc="-19">
                <a:solidFill>
                  <a:srgbClr val="000000"/>
                </a:solidFill>
                <a:latin typeface="Atkinson Hyperlegible Bold Italics"/>
                <a:ea typeface="Atkinson Hyperlegible Bold Italics"/>
                <a:cs typeface="Atkinson Hyperlegible Bold Italics"/>
                <a:sym typeface="Atkinson Hyperlegible Bold Italics"/>
              </a:rPr>
              <a:t>Significance of the Work</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The proposed solution addresses critical challenges in modern network security by:</a:t>
            </a:r>
          </a:p>
          <a:p>
            <a:pPr marL="712488" lvl="1" indent="-356244" algn="just">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Improving the speed and accuracy of attack detection</a:t>
            </a:r>
          </a:p>
          <a:p>
            <a:pPr marL="712488" lvl="1" indent="-356244" algn="just">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Supporting scalable and adaptive defense strategies</a:t>
            </a:r>
          </a:p>
          <a:p>
            <a:pPr marL="712488" lvl="1" indent="-356244" algn="just">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Reducing reliance on traditional signature-based systems</a:t>
            </a:r>
          </a:p>
          <a:p>
            <a:pPr marL="0" lvl="0" indent="0" algn="just">
              <a:lnSpc>
                <a:spcPts val="3564"/>
              </a:lnSpc>
              <a:spcBef>
                <a:spcPct val="0"/>
              </a:spcBef>
            </a:pPr>
            <a:endParaRPr lang="en-US" sz="3300" u="none" strike="noStrike" spc="-19">
              <a:solidFill>
                <a:srgbClr val="000000"/>
              </a:solidFill>
              <a:latin typeface="Atkinson Hyperlegible"/>
              <a:ea typeface="Atkinson Hyperlegible"/>
              <a:cs typeface="Atkinson Hyperlegible"/>
              <a:sym typeface="Atkinson Hyperlegible"/>
            </a:endParaRPr>
          </a:p>
        </p:txBody>
      </p:sp>
      <p:sp>
        <p:nvSpPr>
          <p:cNvPr id="7" name="TextBox 7"/>
          <p:cNvSpPr txBox="1"/>
          <p:nvPr/>
        </p:nvSpPr>
        <p:spPr>
          <a:xfrm>
            <a:off x="10068686" y="2166363"/>
            <a:ext cx="5478972" cy="4488943"/>
          </a:xfrm>
          <a:prstGeom prst="rect">
            <a:avLst/>
          </a:prstGeom>
        </p:spPr>
        <p:txBody>
          <a:bodyPr lIns="0" tIns="0" rIns="0" bIns="0" rtlCol="0" anchor="t">
            <a:spAutoFit/>
          </a:bodyPr>
          <a:lstStyle/>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Limitations</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Performance may be affected by previously unseen or evolving attack patterns</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Minor challenges observed in real-time visualization handling</a:t>
            </a:r>
          </a:p>
          <a:p>
            <a:pPr marL="0" lvl="0" indent="0" algn="just">
              <a:lnSpc>
                <a:spcPts val="3564"/>
              </a:lnSpc>
              <a:spcBef>
                <a:spcPct val="0"/>
              </a:spcBef>
            </a:pPr>
            <a:r>
              <a:rPr lang="en-US" sz="3300" u="none" strike="noStrike" spc="-19">
                <a:solidFill>
                  <a:srgbClr val="000000"/>
                </a:solidFill>
                <a:latin typeface="Atkinson Hyperlegible"/>
                <a:ea typeface="Atkinson Hyperlegible"/>
                <a:cs typeface="Atkinson Hyperlegible"/>
                <a:sym typeface="Atkinson Hyperlegible"/>
              </a:rPr>
              <a:t>Further optimization required for deployment at large-scale network infrastructures</a:t>
            </a:r>
          </a:p>
        </p:txBody>
      </p:sp>
      <p:sp>
        <p:nvSpPr>
          <p:cNvPr id="8" name="TextBox 8"/>
          <p:cNvSpPr txBox="1"/>
          <p:nvPr/>
        </p:nvSpPr>
        <p:spPr>
          <a:xfrm>
            <a:off x="2697163" y="7301162"/>
            <a:ext cx="14142872" cy="2698243"/>
          </a:xfrm>
          <a:prstGeom prst="rect">
            <a:avLst/>
          </a:prstGeom>
        </p:spPr>
        <p:txBody>
          <a:bodyPr lIns="0" tIns="0" rIns="0" bIns="0" rtlCol="0" anchor="t">
            <a:spAutoFit/>
          </a:bodyPr>
          <a:lstStyle/>
          <a:p>
            <a:pPr marL="0" lvl="0" indent="0" algn="just">
              <a:lnSpc>
                <a:spcPts val="3564"/>
              </a:lnSpc>
              <a:spcBef>
                <a:spcPct val="0"/>
              </a:spcBef>
            </a:pPr>
            <a:r>
              <a:rPr lang="en-US" sz="3300" b="1" i="1" u="sng" strike="noStrike" spc="-19">
                <a:solidFill>
                  <a:srgbClr val="000000"/>
                </a:solidFill>
                <a:latin typeface="Atkinson Hyperlegible Bold Italics"/>
                <a:ea typeface="Atkinson Hyperlegible Bold Italics"/>
                <a:cs typeface="Atkinson Hyperlegible Bold Italics"/>
                <a:sym typeface="Atkinson Hyperlegible Bold Italics"/>
              </a:rPr>
              <a:t>Future Scope</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Incorporation of advanced deep learning techniques for improved detection</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Deployment in cloud and edge computing environments</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Integration with real-world 5G network systems</a:t>
            </a:r>
          </a:p>
          <a:p>
            <a:pPr marL="712488" lvl="1" indent="-356244" algn="l">
              <a:lnSpc>
                <a:spcPts val="3564"/>
              </a:lnSpc>
              <a:spcBef>
                <a:spcPct val="0"/>
              </a:spcBef>
              <a:buFont typeface="Arial"/>
              <a:buChar char="•"/>
            </a:pPr>
            <a:r>
              <a:rPr lang="en-US" sz="3300" u="none" strike="noStrike" spc="-19">
                <a:solidFill>
                  <a:srgbClr val="000000"/>
                </a:solidFill>
                <a:latin typeface="Atkinson Hyperlegible"/>
                <a:ea typeface="Atkinson Hyperlegible"/>
                <a:cs typeface="Atkinson Hyperlegible"/>
                <a:sym typeface="Atkinson Hyperlegible"/>
              </a:rPr>
              <a:t>Development of adaptive and self-learning security mechanisms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914400" y="4286250"/>
            <a:ext cx="16459200" cy="1714500"/>
            <a:chOff x="0" y="0"/>
            <a:chExt cx="21945600" cy="2286000"/>
          </a:xfrm>
        </p:grpSpPr>
        <p:sp>
          <p:nvSpPr>
            <p:cNvPr id="4" name="Freeform 4"/>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5" name="TextBox 5"/>
            <p:cNvSpPr txBox="1"/>
            <p:nvPr/>
          </p:nvSpPr>
          <p:spPr>
            <a:xfrm>
              <a:off x="0" y="66675"/>
              <a:ext cx="21945600" cy="2219325"/>
            </a:xfrm>
            <a:prstGeom prst="rect">
              <a:avLst/>
            </a:prstGeom>
          </p:spPr>
          <p:txBody>
            <a:bodyPr lIns="0" tIns="0" rIns="0" bIns="0" rtlCol="0" anchor="ctr"/>
            <a:lstStyle/>
            <a:p>
              <a:pPr algn="ctr">
                <a:lnSpc>
                  <a:spcPts val="7128"/>
                </a:lnSpc>
              </a:pPr>
              <a:r>
                <a:rPr lang="en-US" sz="6600" b="1" spc="-40">
                  <a:solidFill>
                    <a:srgbClr val="FF0000"/>
                  </a:solidFill>
                  <a:latin typeface="TT Rounds Condensed Bold"/>
                  <a:ea typeface="TT Rounds Condensed Bold"/>
                  <a:cs typeface="TT Rounds Condensed Bold"/>
                  <a:sym typeface="TT Rounds Condensed Bold"/>
                </a:rPr>
                <a:t>Thank You</a:t>
              </a:r>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985</Words>
  <Application>Microsoft Office PowerPoint</Application>
  <PresentationFormat>Custom</PresentationFormat>
  <Paragraphs>173</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Atkinson Hyperlegible</vt:lpstr>
      <vt:lpstr>Calibri</vt:lpstr>
      <vt:lpstr>Times New Roman Bold</vt:lpstr>
      <vt:lpstr>Arial</vt:lpstr>
      <vt:lpstr>Garet Bold Italics</vt:lpstr>
      <vt:lpstr>TT Rounds Condensed Bold</vt:lpstr>
      <vt:lpstr>Atkinson Hyperlegible Bold</vt:lpstr>
      <vt:lpstr>Garet Bold</vt:lpstr>
      <vt:lpstr>Atkinson Hyperlegible Bold Italics</vt:lpstr>
      <vt:lpstr>Archivo Black</vt:lpstr>
      <vt:lpstr>Garet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Project</dc:title>
  <cp:lastModifiedBy>Kesha Shah</cp:lastModifiedBy>
  <cp:revision>2</cp:revision>
  <dcterms:created xsi:type="dcterms:W3CDTF">2006-08-16T00:00:00Z</dcterms:created>
  <dcterms:modified xsi:type="dcterms:W3CDTF">2026-04-09T20:46:59Z</dcterms:modified>
  <dc:identifier>DAHGXp6UEmc</dc:identifier>
</cp:coreProperties>
</file>